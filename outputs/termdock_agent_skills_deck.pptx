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818120" y="1261872"/>
            <a:ext cx="1965960" cy="411480"/>
          </a:xfrm>
          <a:prstGeom prst="line">
            <a:avLst/>
          </a:prstGeom>
          <a:ln w="1397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818120" y="1261872"/>
            <a:ext cx="1143000" cy="1920240"/>
          </a:xfrm>
          <a:prstGeom prst="line">
            <a:avLst/>
          </a:prstGeom>
          <a:ln w="1397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8961120" y="1673352"/>
            <a:ext cx="822960" cy="1508760"/>
          </a:xfrm>
          <a:prstGeom prst="line">
            <a:avLst/>
          </a:prstGeom>
          <a:ln w="1397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61120" y="3182112"/>
            <a:ext cx="1691640" cy="1280160"/>
          </a:xfrm>
          <a:prstGeom prst="line">
            <a:avLst/>
          </a:prstGeom>
          <a:ln w="1397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7818120" y="3182112"/>
            <a:ext cx="1143000" cy="1874520"/>
          </a:xfrm>
          <a:prstGeom prst="line">
            <a:avLst/>
          </a:prstGeom>
          <a:ln w="1397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7818120" y="4462272"/>
            <a:ext cx="2834640" cy="594360"/>
          </a:xfrm>
          <a:prstGeom prst="line">
            <a:avLst/>
          </a:prstGeom>
          <a:ln w="1397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0" y="1005840"/>
            <a:ext cx="1051560" cy="512064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88352" y="1170432"/>
            <a:ext cx="8961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SKILL.md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417320"/>
            <a:ext cx="1051560" cy="512064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1581912"/>
            <a:ext cx="8961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490K+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926080"/>
            <a:ext cx="1051560" cy="512064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3090672"/>
            <a:ext cx="8961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4206240"/>
            <a:ext cx="1051560" cy="512064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22992" y="4370831"/>
            <a:ext cx="8961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800600"/>
            <a:ext cx="1051560" cy="512064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8352" y="4965192"/>
            <a:ext cx="896112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960120"/>
            <a:ext cx="5669280" cy="1170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2026 Agent Skills
完全指南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487168"/>
            <a:ext cx="5029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0">
                <a:solidFill>
                  <a:srgbClr val="F7F3EA"/>
                </a:solidFill>
                <a:latin typeface="Aptos"/>
              </a:rPr>
              <a:t>建立、分享與保護 AI Agent 能力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182112"/>
            <a:ext cx="4526280" cy="841248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438144"/>
            <a:ext cx="404164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FFFFFF"/>
                </a:solidFill>
                <a:latin typeface="Aptos"/>
              </a:rPr>
              <a:t>從 SKILL.md 格式、跨 Agent 相容，到供應鏈安全與團隊治理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為什麼需要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強大的模型不知道你的 style guide、deploy pipeline 與合規要求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480060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600200"/>
            <a:ext cx="4800600" cy="34747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993392"/>
            <a:ext cx="1554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E85D4F"/>
                </a:solidFill>
                <a:latin typeface="Aptos"/>
              </a:rPr>
              <a:t>沒有 Skill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277063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44752" y="2697480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25313A"/>
                </a:solidFill>
                <a:latin typeface="Aptos"/>
              </a:rPr>
              <a:t>像沒讀過 style guide 的天才新人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320954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3136392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25313A"/>
                </a:solidFill>
                <a:latin typeface="Aptos"/>
              </a:rPr>
              <a:t>能力強，但每次即興產出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364845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575304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25313A"/>
                </a:solidFill>
                <a:latin typeface="Aptos"/>
              </a:rPr>
              <a:t>不懂團隊規範與部署約束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1993392"/>
            <a:ext cx="1554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2C14E"/>
                </a:solidFill>
                <a:latin typeface="Aptos"/>
              </a:rPr>
              <a:t>有 Skill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277063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2697480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F7F3EA"/>
                </a:solidFill>
                <a:latin typeface="Aptos"/>
              </a:rPr>
              <a:t>把 context 編碼一次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320954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3136392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F7F3EA"/>
                </a:solidFill>
                <a:latin typeface="Aptos"/>
              </a:rPr>
              <a:t>讓 agent 每次套用相同流程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364845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3575304"/>
            <a:ext cx="3520439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20" b="0">
                <a:solidFill>
                  <a:srgbClr val="F7F3EA"/>
                </a:solidFill>
                <a:latin typeface="Aptos"/>
              </a:rPr>
              <a:t>把通用智慧變成具體好用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Agent Skill 是什麼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一個資料夾、一份 SKILL.md，加上可選的 scripts、參考資料與範例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880360" cy="3749039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47672"/>
            <a:ext cx="14630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20" b="1">
                <a:solidFill>
                  <a:srgbClr val="F2C14E"/>
                </a:solidFill>
                <a:latin typeface="Aptos"/>
              </a:rPr>
              <a:t>skill-folder/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2606040"/>
            <a:ext cx="19202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706624"/>
            <a:ext cx="91440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40" b="1">
                <a:solidFill>
                  <a:srgbClr val="25313A"/>
                </a:solidFill>
                <a:latin typeface="Aptos"/>
              </a:rPr>
              <a:t>SKILL.md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2706624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40" b="1">
                <a:solidFill>
                  <a:srgbClr val="E85D4F"/>
                </a:solidFill>
                <a:latin typeface="Aptos"/>
              </a:rPr>
              <a:t>必要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172968"/>
            <a:ext cx="19202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73552"/>
            <a:ext cx="91440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40" b="1">
                <a:solidFill>
                  <a:srgbClr val="25313A"/>
                </a:solidFill>
                <a:latin typeface="Aptos"/>
              </a:rPr>
              <a:t>scripts/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3273552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40" b="1">
                <a:solidFill>
                  <a:srgbClr val="E85D4F"/>
                </a:solidFill>
                <a:latin typeface="Aptos"/>
              </a:rPr>
              <a:t>選配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3739896"/>
            <a:ext cx="19202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840480"/>
            <a:ext cx="91440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40" b="1">
                <a:solidFill>
                  <a:srgbClr val="25313A"/>
                </a:solidFill>
                <a:latin typeface="Aptos"/>
              </a:rPr>
              <a:t>references/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3840480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40" b="1">
                <a:solidFill>
                  <a:srgbClr val="E85D4F"/>
                </a:solidFill>
                <a:latin typeface="Aptos"/>
              </a:rPr>
              <a:t>選配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306824"/>
            <a:ext cx="19202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407408"/>
            <a:ext cx="91440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40" b="1">
                <a:solidFill>
                  <a:srgbClr val="25313A"/>
                </a:solidFill>
                <a:latin typeface="Aptos"/>
              </a:rPr>
              <a:t>examples/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1448" y="4407408"/>
            <a:ext cx="411480" cy="73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40" b="1">
                <a:solidFill>
                  <a:srgbClr val="E85D4F"/>
                </a:solidFill>
                <a:latin typeface="Aptos"/>
              </a:rPr>
              <a:t>選配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1828800"/>
            <a:ext cx="310896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0B7C83"/>
                </a:solidFill>
                <a:latin typeface="Aptos"/>
              </a:rPr>
              <a:t>AI agent 的 npm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28163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2743200"/>
            <a:ext cx="5532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30" b="0">
                <a:solidFill>
                  <a:srgbClr val="25313A"/>
                </a:solidFill>
                <a:latin typeface="Aptos"/>
              </a:rPr>
              <a:t>npm 套件匯出可複用程式碼。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0" y="334670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3273552"/>
            <a:ext cx="5532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30" b="0">
                <a:solidFill>
                  <a:srgbClr val="25313A"/>
                </a:solidFill>
                <a:latin typeface="Aptos"/>
              </a:rPr>
              <a:t>Skill 匯出可複用流程、約束與領域知識。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0" y="387705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5192" y="3803904"/>
            <a:ext cx="55321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30" b="0">
                <a:solidFill>
                  <a:srgbClr val="25313A"/>
                </a:solidFill>
                <a:latin typeface="Aptos"/>
              </a:rPr>
              <a:t>不需要編譯、runtime 或 dependency graph。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SKILL.md 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YAML 給機器判斷，Markdown 給 Agent 執行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49834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1508760"/>
            <a:ext cx="4983480" cy="41605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0B7C83"/>
                </a:solidFill>
                <a:latin typeface="Aptos"/>
              </a:rPr>
              <a:t>YAML Frontmatter</a:t>
            </a:r>
          </a:p>
        </p:txBody>
      </p:sp>
      <p:sp>
        <p:nvSpPr>
          <p:cNvPr id="8" name="Oval 7"/>
          <p:cNvSpPr/>
          <p:nvPr/>
        </p:nvSpPr>
        <p:spPr>
          <a:xfrm>
            <a:off x="1170432" y="272491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0744" y="2651760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25313A"/>
                </a:solidFill>
                <a:latin typeface="Aptos"/>
              </a:rPr>
              <a:t>name：小寫連字號，最長 64 字元</a:t>
            </a:r>
          </a:p>
        </p:txBody>
      </p:sp>
      <p:sp>
        <p:nvSpPr>
          <p:cNvPr id="10" name="Oval 9"/>
          <p:cNvSpPr/>
          <p:nvPr/>
        </p:nvSpPr>
        <p:spPr>
          <a:xfrm>
            <a:off x="1170432" y="320040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0744" y="3127248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25313A"/>
                </a:solidFill>
                <a:latin typeface="Aptos"/>
              </a:rPr>
              <a:t>description：觸發器，最長 1,024 字元</a:t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3675887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0744" y="3602736"/>
            <a:ext cx="37033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25313A"/>
                </a:solidFill>
                <a:latin typeface="Aptos"/>
              </a:rPr>
              <a:t>allowed-tools / metadata / license：選配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901952"/>
            <a:ext cx="2240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>
                <a:solidFill>
                  <a:srgbClr val="F2C14E"/>
                </a:solidFill>
                <a:latin typeface="Aptos"/>
              </a:rPr>
              <a:t>Markdown Body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72491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39712" y="2651760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F7F3EA"/>
                </a:solidFill>
                <a:latin typeface="Aptos"/>
              </a:rPr>
              <a:t>Instructions：任務流程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20040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127248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F7F3EA"/>
                </a:solidFill>
                <a:latin typeface="Aptos"/>
              </a:rPr>
              <a:t>Conventions：團隊規範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3675887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3602736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F7F3EA"/>
                </a:solidFill>
                <a:latin typeface="Aptos"/>
              </a:rPr>
              <a:t>Example：可複製的範例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415137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078224"/>
            <a:ext cx="34290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F7F3EA"/>
                </a:solidFill>
                <a:latin typeface="Aptos"/>
              </a:rPr>
              <a:t>Rules：不可違反的約束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Description 決定觸發率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它是反向搜尋查詢：agent 在 skill 庫中搜尋相關性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4800600" cy="32461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0" y="1737360"/>
            <a:ext cx="4800600" cy="32461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148840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E85D4F"/>
                </a:solidFill>
                <a:latin typeface="Aptos"/>
              </a:rPr>
              <a:t>太泛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926080"/>
            <a:ext cx="32004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4727D"/>
                </a:solidFill>
                <a:latin typeface="Aptos"/>
              </a:rPr>
              <a:t>"code review"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3703320"/>
            <a:ext cx="324612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27D"/>
                </a:solidFill>
                <a:latin typeface="Aptos"/>
              </a:rPr>
              <a:t>問題：觸發意圖模糊，agent 不知道哪些請求該匹配。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3992" y="2148840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2C14E"/>
                </a:solidFill>
                <a:latin typeface="Aptos"/>
              </a:rPr>
              <a:t>具體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743200"/>
            <a:ext cx="39319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40" b="1">
                <a:solidFill>
                  <a:srgbClr val="F7F3EA"/>
                </a:solidFill>
                <a:latin typeface="Aptos"/>
              </a:rPr>
              <a:t>Perform thorough code review with focus on security, performance, and maintainability.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803904"/>
            <a:ext cx="3931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7F3EA"/>
                </a:solidFill>
                <a:latin typeface="Aptos"/>
              </a:rPr>
              <a:t>方向：任務、方法、輸出格式越清楚，觸發越穩。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漸進式揭露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把初始 context window 成本壓到最低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2148840"/>
            <a:ext cx="502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743200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25313A"/>
                </a:solidFill>
                <a:latin typeface="Aptos"/>
              </a:rPr>
              <a:t>Frontmatter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3401568"/>
            <a:ext cx="2148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64727D"/>
                </a:solidFill>
                <a:latin typeface="Aptos"/>
              </a:rPr>
              <a:t>永遠載入，成本極低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31920" y="3291840"/>
            <a:ext cx="73152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1828800"/>
            <a:ext cx="3017520" cy="297180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9472" y="2148840"/>
            <a:ext cx="502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2C14E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2" y="2743200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FFFFFF"/>
                </a:solidFill>
                <a:latin typeface="Aptos"/>
              </a:rPr>
              <a:t>SKILL.md Body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3401568"/>
            <a:ext cx="2148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F7F3EA"/>
                </a:solidFill>
                <a:latin typeface="Aptos"/>
              </a:rPr>
              <a:t>相關時才載入完整指令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80959" y="3291840"/>
            <a:ext cx="731521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182880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8511" y="2148840"/>
            <a:ext cx="5029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1" y="2743200"/>
            <a:ext cx="1828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50" b="1">
                <a:solidFill>
                  <a:srgbClr val="25313A"/>
                </a:solidFill>
                <a:latin typeface="Aptos"/>
              </a:rPr>
              <a:t>外部檔案 / 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1" y="3401568"/>
            <a:ext cx="2148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20" b="0">
                <a:solidFill>
                  <a:srgbClr val="64727D"/>
                </a:solidFill>
                <a:latin typeface="Aptos"/>
              </a:rPr>
              <a:t>需要時才讀取或執行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10149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20" b="1">
                <a:solidFill>
                  <a:srgbClr val="25313A"/>
                </a:solidFill>
                <a:latin typeface="Aptos"/>
              </a:rPr>
              <a:t>安裝數十個 skill 時，只有匹配任務的少數 skill 進入完整 context。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490K+ Skill 生態系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從概念到標準基礎設施，時間以月計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154680" cy="32461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21945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E85D4F"/>
                </a:solidFill>
                <a:latin typeface="Aptos"/>
              </a:rPr>
              <a:t>400K+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21945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SkillsMP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233172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64727D"/>
                </a:solidFill>
                <a:latin typeface="Aptos"/>
              </a:rPr>
              <a:t>數量霸主；爬取 GitHub SKILL.md 並做語意搜尋。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83080"/>
            <a:ext cx="3154680" cy="32461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148840"/>
            <a:ext cx="21945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F2C14E"/>
                </a:solidFill>
                <a:latin typeface="Aptos"/>
              </a:rPr>
              <a:t>83K+ / 8M+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834640"/>
            <a:ext cx="21945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Skills.sh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520440"/>
            <a:ext cx="233172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F7F3EA"/>
                </a:solidFill>
                <a:latin typeface="Aptos"/>
              </a:rPr>
              <a:t>Vercel 推出；CLI 原生安裝、排行榜、Snyk 掃描。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83080"/>
            <a:ext cx="3154680" cy="32461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148840"/>
            <a:ext cx="21945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1">
                <a:solidFill>
                  <a:srgbClr val="E85D4F"/>
                </a:solidFill>
                <a:latin typeface="Aptos"/>
              </a:rPr>
              <a:t>~10K+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34640"/>
            <a:ext cx="21945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ClawHub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20440"/>
            <a:ext cx="2331720" cy="6217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64727D"/>
                </a:solidFill>
                <a:latin typeface="Aptos"/>
              </a:rPr>
              <a:t>開放平台；ClawHavoc 事件成為安全反例。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建立第一個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五分鐘版本：建目錄、寫 SKILL.md、測試、優化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2240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76272"/>
            <a:ext cx="457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80" b="1">
                <a:solidFill>
                  <a:srgbClr val="25313A"/>
                </a:solidFill>
                <a:latin typeface="Aptos"/>
              </a:rPr>
              <a:t>建目錄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9" b="0">
                <a:solidFill>
                  <a:srgbClr val="64727D"/>
                </a:solidFill>
                <a:latin typeface="Aptos"/>
              </a:rPr>
              <a:t>~/.claude/skills/ 或專案 .claude/skills/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3154680"/>
            <a:ext cx="59436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874519"/>
            <a:ext cx="2240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176272"/>
            <a:ext cx="457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E85D4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743200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80" b="1">
                <a:solidFill>
                  <a:srgbClr val="25313A"/>
                </a:solidFill>
                <a:latin typeface="Aptos"/>
              </a:rPr>
              <a:t>寫 SKILL.md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3756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9" b="0">
                <a:solidFill>
                  <a:srgbClr val="64727D"/>
                </a:solidFill>
                <a:latin typeface="Aptos"/>
              </a:rPr>
              <a:t>定義流程、輸出格式與規則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0" y="3154680"/>
            <a:ext cx="59436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1874519"/>
            <a:ext cx="2240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176272"/>
            <a:ext cx="457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E85D4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80" b="1">
                <a:solidFill>
                  <a:srgbClr val="25313A"/>
                </a:solidFill>
                <a:latin typeface="Aptos"/>
              </a:rPr>
              <a:t>測試觸發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3756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9" b="0">
                <a:solidFill>
                  <a:srgbClr val="64727D"/>
                </a:solidFill>
                <a:latin typeface="Aptos"/>
              </a:rPr>
              <a:t>例如：claude "review the changes"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3154680"/>
            <a:ext cx="59436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372600" y="1874519"/>
            <a:ext cx="22402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176272"/>
            <a:ext cx="4572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>
                <a:solidFill>
                  <a:srgbClr val="E85D4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43200"/>
            <a:ext cx="14173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80" b="1">
                <a:solidFill>
                  <a:srgbClr val="25313A"/>
                </a:solidFill>
                <a:latin typeface="Aptos"/>
              </a:rPr>
              <a:t>優化描述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337560"/>
            <a:ext cx="1645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9" b="0">
                <a:solidFill>
                  <a:srgbClr val="64727D"/>
                </a:solidFill>
                <a:latin typeface="Aptos"/>
              </a:rPr>
              <a:t>用測試 query 驗證觸發可靠性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跨 Agent 使用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同一份核心 SKILL.md，可在 Claude Code、Codex CLI、Copilot 間流動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2743200" cy="82296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23360" y="1508760"/>
            <a:ext cx="2926080" cy="82296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60920" y="1508760"/>
            <a:ext cx="3794760" cy="822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01368"/>
            <a:ext cx="20574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25313A"/>
                </a:solidFill>
                <a:latin typeface="Aptos"/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709928"/>
            <a:ext cx="2240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40" b="1">
                <a:solidFill>
                  <a:srgbClr val="F2C14E"/>
                </a:solidFill>
                <a:latin typeface="Aptos"/>
              </a:rPr>
              <a:t>~/.claude/skills/
.claude/skills/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01368"/>
            <a:ext cx="3017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0" b="0">
                <a:solidFill>
                  <a:srgbClr val="64727D"/>
                </a:solidFill>
                <a:latin typeface="Aptos"/>
              </a:rPr>
              <a:t>個人、專案、Marketplace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34639"/>
            <a:ext cx="2743200" cy="82296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2834639"/>
            <a:ext cx="2926080" cy="82296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60920" y="2834639"/>
            <a:ext cx="3794760" cy="822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7"/>
            <a:ext cx="20574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25313A"/>
                </a:solidFill>
                <a:latin typeface="Aptos"/>
              </a:rPr>
              <a:t>Codex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035808"/>
            <a:ext cx="2240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40" b="1">
                <a:solidFill>
                  <a:srgbClr val="F2C14E"/>
                </a:solidFill>
                <a:latin typeface="Aptos"/>
              </a:rPr>
              <a:t>.agents/skills/
.codex/skills/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127247"/>
            <a:ext cx="3017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0" b="0">
                <a:solidFill>
                  <a:srgbClr val="64727D"/>
                </a:solidFill>
                <a:latin typeface="Aptos"/>
              </a:rPr>
              <a:t>$skill-installer 與官方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160520"/>
            <a:ext cx="2743200" cy="82296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23360" y="4160520"/>
            <a:ext cx="2926080" cy="82296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4160520"/>
            <a:ext cx="3794760" cy="82296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53128"/>
            <a:ext cx="205740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50" b="1">
                <a:solidFill>
                  <a:srgbClr val="25313A"/>
                </a:solidFill>
                <a:latin typeface="Aptos"/>
              </a:rPr>
              <a:t>GitHub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361688"/>
            <a:ext cx="22402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40" b="1">
                <a:solidFill>
                  <a:srgbClr val="F2C14E"/>
                </a:solidFill>
                <a:latin typeface="Aptos"/>
              </a:rPr>
              <a:t>.github/skills/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453128"/>
            <a:ext cx="301752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60" b="0">
                <a:solidFill>
                  <a:srgbClr val="64727D"/>
                </a:solidFill>
                <a:latin typeface="Aptos"/>
              </a:rPr>
              <a:t>Copilot coding agent / CLI / VS Code agent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715000"/>
            <a:ext cx="10149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25313A"/>
                </a:solidFill>
                <a:latin typeface="Aptos"/>
              </a:rPr>
              <a:t>跨平台原則：堅持 name、description、Markdown body；避免 agent 專屬 frontmatter。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Superpowers 與 Skills 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一份 skill 是食譜；Superpowers 是一整本食譜書與廚房流程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2971800" cy="804672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956816"/>
            <a:ext cx="26060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Brainstorming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91640"/>
            <a:ext cx="2971800" cy="804672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1" y="1956816"/>
            <a:ext cx="26060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Planning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691640"/>
            <a:ext cx="2971800" cy="804672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1956816"/>
            <a:ext cx="26060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TDD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154680"/>
            <a:ext cx="2971800" cy="804672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419856"/>
            <a:ext cx="26060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Code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154680"/>
            <a:ext cx="2971800" cy="804672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1" y="3419856"/>
            <a:ext cx="26060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Debugging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3154680"/>
            <a:ext cx="2971800" cy="804672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419856"/>
            <a:ext cx="26060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2412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0" b="1">
                <a:solidFill>
                  <a:srgbClr val="25313A"/>
                </a:solidFill>
                <a:latin typeface="Aptos"/>
              </a:rPr>
              <a:t>強制機制是核心：沒有測試就拒絕實作；未規劃前不碰檔案，把通用 LLM 變成有紀律的開發者。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安全性：13.4% 的 Skill 存在重大問題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Snyk ToxicSkills 研究揭示快速生態系的供應鏈風險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2240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542032"/>
            <a:ext cx="1783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5D4F"/>
                </a:solidFill>
                <a:latin typeface="Aptos"/>
              </a:rPr>
              <a:t>3,984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401568"/>
            <a:ext cx="1783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4727D"/>
                </a:solidFill>
                <a:latin typeface="Aptos"/>
              </a:rPr>
              <a:t>掃描 skill 數量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965960"/>
            <a:ext cx="2240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4487" y="2542032"/>
            <a:ext cx="1783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5D4F"/>
                </a:solidFill>
                <a:latin typeface="Aptos"/>
              </a:rPr>
              <a:t>36.8%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7" y="3401568"/>
            <a:ext cx="1783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4727D"/>
                </a:solidFill>
                <a:latin typeface="Aptos"/>
              </a:rPr>
              <a:t>至少有一個漏洞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965960"/>
            <a:ext cx="2240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2542032"/>
            <a:ext cx="1783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5D4F"/>
                </a:solidFill>
                <a:latin typeface="Aptos"/>
              </a:rPr>
              <a:t>13.4%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3401568"/>
            <a:ext cx="1783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4727D"/>
                </a:solidFill>
                <a:latin typeface="Aptos"/>
              </a:rPr>
              <a:t>包含重大等級問題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72600" y="1965960"/>
            <a:ext cx="22402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2542032"/>
            <a:ext cx="178308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5D4F"/>
                </a:solidFill>
                <a:latin typeface="Aptos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73768" y="3401568"/>
            <a:ext cx="17830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64727D"/>
                </a:solidFill>
                <a:latin typeface="Aptos"/>
              </a:rPr>
              <a:t>確認為惡意載荷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102412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2C14E"/>
                </a:solidFill>
                <a:latin typeface="Aptos"/>
              </a:rPr>
              <a:t>91% 的惡意 skill 結合 prompt injection 和傳統惡意軟體。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威脅模型與防禦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讓 skill 強大的同一個機制，也讓它們危險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1546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819656"/>
            <a:ext cx="237744" cy="23774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1051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Shell 執行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26974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下載並執行惡意載荷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31546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1819656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81051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檔案系統存取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58568"/>
            <a:ext cx="26974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讀取 .env、SSH key、credentials 並外洩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00200"/>
            <a:ext cx="31546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1819656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81051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Prompt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258568"/>
            <a:ext cx="26974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覆蓋安全準則並社交工程使用者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40480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0B7C83"/>
                </a:solidFill>
                <a:latin typeface="Aptos"/>
              </a:rPr>
              <a:t>防禦清單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441655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343400"/>
            <a:ext cx="9464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0" b="0">
                <a:solidFill>
                  <a:srgbClr val="25313A"/>
                </a:solidFill>
                <a:latin typeface="Aptos"/>
              </a:rPr>
              <a:t>只從驗證來源安裝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474573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672584"/>
            <a:ext cx="9464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0" b="0">
                <a:solidFill>
                  <a:srgbClr val="25313A"/>
                </a:solidFill>
                <a:latin typeface="Aptos"/>
              </a:rPr>
              <a:t>安裝前閱讀 SKILL.md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5074920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001768"/>
            <a:ext cx="9464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0" b="0">
                <a:solidFill>
                  <a:srgbClr val="25313A"/>
                </a:solidFill>
                <a:latin typeface="Aptos"/>
              </a:rPr>
              <a:t>用 allowed-tools 最小化工具權限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" y="540410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5330952"/>
            <a:ext cx="9464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0" b="0">
                <a:solidFill>
                  <a:srgbClr val="25313A"/>
                </a:solidFill>
                <a:latin typeface="Aptos"/>
              </a:rPr>
              <a:t>Agent 要求系統密碼時拒絕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5733288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660136"/>
            <a:ext cx="94640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30" b="0">
                <a:solidFill>
                  <a:srgbClr val="25313A"/>
                </a:solidFill>
                <a:latin typeface="Aptos"/>
              </a:rPr>
              <a:t>定期執行 Snyk Agent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架構最佳實踐與團隊治理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把 skill 當程式碼看：小、可測、可 review、可追蹤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819656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8105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500 行以內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主檔聚焦指令與約束，大量參考資料移到外部檔案。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0020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66560" y="1819656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81051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確定任務用 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5856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Lint、format、test、build 不交給 LLM 自行詮釋。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2044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739896"/>
            <a:ext cx="237744" cy="23774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73075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一個動詞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7880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Review、Test、Document、Deploy 分成不同 skill。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520440"/>
            <a:ext cx="4892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6560" y="3739896"/>
            <a:ext cx="237744" cy="237744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730752"/>
            <a:ext cx="4069079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團隊治理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178808"/>
            <a:ext cx="44348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Review 變更、pin marketplace 版本、測試代表性任務。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Context Engineering 與上手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Scope 決定該用 CLAUDE.md、AGENTS.md、SKILL.md 還是 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30175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6240" y="1508760"/>
            <a:ext cx="2194560" cy="621792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20840" y="1508760"/>
            <a:ext cx="44348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09928"/>
            <a:ext cx="246888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25313A"/>
                </a:solidFill>
                <a:latin typeface="Aptos"/>
              </a:rPr>
              <a:t>CLAUDE.md / AGENTS.md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709928"/>
            <a:ext cx="16916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專案憲法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709928"/>
            <a:ext cx="3749039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9" b="0">
                <a:solidFill>
                  <a:srgbClr val="64727D"/>
                </a:solidFill>
                <a:latin typeface="Aptos"/>
              </a:rPr>
              <a:t>永遠載入；架構、規範、硬性約束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468880"/>
            <a:ext cx="30175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468880"/>
            <a:ext cx="2194560" cy="621792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2468880"/>
            <a:ext cx="44348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670048"/>
            <a:ext cx="246888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25313A"/>
                </a:solidFill>
                <a:latin typeface="Aptos"/>
              </a:rPr>
              <a:t>SKILL.md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670048"/>
            <a:ext cx="16916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任務能力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670048"/>
            <a:ext cx="3749039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9" b="0">
                <a:solidFill>
                  <a:srgbClr val="64727D"/>
                </a:solidFill>
                <a:latin typeface="Aptos"/>
              </a:rPr>
              <a:t>按需載入；流程、模板、checklist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429000"/>
            <a:ext cx="301752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06240" y="3429000"/>
            <a:ext cx="2194560" cy="621792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20840" y="3429000"/>
            <a:ext cx="44348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630168"/>
            <a:ext cx="246888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25313A"/>
                </a:solidFill>
                <a:latin typeface="Aptos"/>
              </a:rPr>
              <a:t>MCP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630168"/>
            <a:ext cx="1691640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外部工具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3630168"/>
            <a:ext cx="3749039" cy="91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19" b="0">
                <a:solidFill>
                  <a:srgbClr val="64727D"/>
                </a:solidFill>
                <a:latin typeface="Aptos"/>
              </a:rPr>
              <a:t>工具呼叫時；資料庫、API、服務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3327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F2C14E"/>
                </a:solidFill>
                <a:latin typeface="Aptos"/>
              </a:rPr>
              <a:t>上手：讀規範 → 建個人 skill → 建專案 skill → 測 5 種觸發語句 → 掃安全 → 每週迭代。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Termdock｜Danny Huang｜2026-03-16｜termdock.com/blog/agent-skills-guide/zh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
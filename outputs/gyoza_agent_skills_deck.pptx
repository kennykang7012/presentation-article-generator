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772400" y="1307592"/>
            <a:ext cx="2057400" cy="457200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8823960" y="1764792"/>
            <a:ext cx="1005840" cy="1435608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0" y="1307592"/>
            <a:ext cx="1051560" cy="1892808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23960" y="3200400"/>
            <a:ext cx="1783080" cy="1490472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909560" y="3200400"/>
            <a:ext cx="914400" cy="1947672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909560" y="4690872"/>
            <a:ext cx="2697480" cy="457200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0" y="1051560"/>
            <a:ext cx="914400" cy="512064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8352" y="1216151"/>
            <a:ext cx="76809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SKILL.md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508760"/>
            <a:ext cx="914400" cy="512064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45752" y="1673351"/>
            <a:ext cx="76809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944368"/>
            <a:ext cx="914400" cy="512064"/>
          </a:xfrm>
          <a:prstGeom prst="roundRect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3108960"/>
            <a:ext cx="76809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4434840"/>
            <a:ext cx="914400" cy="512064"/>
          </a:xfrm>
          <a:prstGeom prst="roundRect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22992" y="4599431"/>
            <a:ext cx="76809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892040"/>
            <a:ext cx="914400" cy="512064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5056631"/>
            <a:ext cx="76809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987552"/>
            <a:ext cx="51206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Agent Skills
是什麼？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468880"/>
            <a:ext cx="5303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F7F3EA"/>
                </a:solidFill>
                <a:latin typeface="Aptos"/>
              </a:rPr>
              <a:t>從重複 prompt 到可攜帶的 AI 工作流程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182112"/>
            <a:ext cx="4526280" cy="841248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438144"/>
            <a:ext cx="404164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把一次性指令變成可觸發、可分享、可版本控管的專業流程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痛點：我們一直在當人肉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重複貼 prompt，其實是在手動搬運脈絡、格式與判斷標準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47088"/>
            <a:ext cx="3154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066543"/>
            <a:ext cx="237744" cy="237744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5608" y="2057400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重貼指令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05456"/>
            <a:ext cx="2697480" cy="2240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每次開新視窗，都要重新描述格式與規則。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1847088"/>
            <a:ext cx="3154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64608" y="2066543"/>
            <a:ext cx="237744" cy="23774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2057400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格式漂移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505456"/>
            <a:ext cx="2697480" cy="2240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改一個字，整段輸出結構可能跟著跑掉。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847088"/>
            <a:ext cx="3154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59368" y="2066543"/>
            <a:ext cx="237744" cy="2377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5128" y="2057400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對齊成本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2505456"/>
            <a:ext cx="2697480" cy="2240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花時間修 prompt，卻不是在完成真正任務。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532120"/>
            <a:ext cx="9875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25313A"/>
                </a:solidFill>
                <a:latin typeface="Aptos"/>
              </a:rPr>
              <a:t>Skills 的出發點：把規則定義一次，讓 AI 之後每次自動套用。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Agent Skills 的一句話定義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可被機器理解、可跨平台遷移、包含背景知識的結構化工作指令集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508760"/>
            <a:ext cx="10149840" cy="1874519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029968"/>
            <a:ext cx="9326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Skill 不是一段聊天內容，而是一份標準化的能力說明書。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041648"/>
            <a:ext cx="2194560" cy="960120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4279392"/>
            <a:ext cx="1783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特定場景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645152"/>
            <a:ext cx="17830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何時觸發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4041648"/>
            <a:ext cx="2194560" cy="960120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0207" y="4279392"/>
            <a:ext cx="1783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專業流程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7" y="4645152"/>
            <a:ext cx="17830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怎麼執行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59" y="4041648"/>
            <a:ext cx="2194560" cy="960120"/>
          </a:xfrm>
          <a:prstGeom prst="roundRect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7" y="4279392"/>
            <a:ext cx="1783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輸出規格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7" y="4645152"/>
            <a:ext cx="17830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交付什麼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4041648"/>
            <a:ext cx="2194560" cy="960120"/>
          </a:xfrm>
          <a:prstGeom prst="roundRect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8048" y="4279392"/>
            <a:ext cx="1783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可攜帶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4645152"/>
            <a:ext cx="17830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如何分享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模型、Agent、Skills 的分工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能力、環境與專業流程各司其職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154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9384" y="2057400"/>
            <a:ext cx="932688" cy="932688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401568"/>
            <a:ext cx="24231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5313A"/>
                </a:solidFill>
                <a:latin typeface="Aptos"/>
              </a:rPr>
              <a:t>AI 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785615"/>
            <a:ext cx="2423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0B7C83"/>
                </a:solidFill>
                <a:latin typeface="Aptos"/>
              </a:rPr>
              <a:t>處理器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187952"/>
            <a:ext cx="23317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64727D"/>
                </a:solidFill>
                <a:latin typeface="Aptos"/>
              </a:rPr>
              <a:t>提供運算能力與推理邏輯。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91640"/>
            <a:ext cx="3154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4144" y="2057400"/>
            <a:ext cx="932688" cy="932688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3401568"/>
            <a:ext cx="24231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5313A"/>
                </a:solidFill>
                <a:latin typeface="Aptos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3785615"/>
            <a:ext cx="2423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0B7C83"/>
                </a:solidFill>
                <a:latin typeface="Aptos"/>
              </a:rPr>
              <a:t>作業系統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4187952"/>
            <a:ext cx="23317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64727D"/>
                </a:solidFill>
                <a:latin typeface="Aptos"/>
              </a:rPr>
              <a:t>提供穩定環境，讓 AI 能調動資源與工具。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691640"/>
            <a:ext cx="3154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18904" y="2057400"/>
            <a:ext cx="932688" cy="932688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3401568"/>
            <a:ext cx="24231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5313A"/>
                </a:solidFill>
                <a:latin typeface="Aptos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785615"/>
            <a:ext cx="2423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0B7C83"/>
                </a:solidFill>
                <a:latin typeface="Aptos"/>
              </a:rPr>
              <a:t>應用程式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4187952"/>
            <a:ext cx="23317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64727D"/>
                </a:solidFill>
                <a:latin typeface="Aptos"/>
              </a:rPr>
              <a:t>安裝在 Agent 上，教 AI 特定任務怎麼做。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Prompt、GPTs/Gems、Agent Skills 差異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關鍵差異在生命週期、載入方式、工具能力與可攜帶性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3154680" cy="34747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19" y="1965960"/>
            <a:ext cx="411480" cy="411480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993392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1">
                <a:solidFill>
                  <a:srgbClr val="25313A"/>
                </a:solidFill>
                <a:latin typeface="Aptos"/>
              </a:rP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743200"/>
            <a:ext cx="242316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64727D"/>
                </a:solidFill>
                <a:latin typeface="Aptos"/>
              </a:rPr>
              <a:t>單次文字
關閉對話就消失
每次手動貼上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00200"/>
            <a:ext cx="3154680" cy="347472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59" y="1965960"/>
            <a:ext cx="411480" cy="411480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993392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1">
                <a:solidFill>
                  <a:srgbClr val="25313A"/>
                </a:solidFill>
                <a:latin typeface="Aptos"/>
              </a:rPr>
              <a:t>GPTs / Gems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2743200"/>
            <a:ext cx="242316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64727D"/>
                </a:solidFill>
                <a:latin typeface="Aptos"/>
              </a:rPr>
              <a:t>平台角色設定
啟動時整體載入
多半綁定單一平台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1600200"/>
            <a:ext cx="3154680" cy="347472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799" y="1965960"/>
            <a:ext cx="411480" cy="41148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39" y="1993392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1">
                <a:solidFill>
                  <a:srgbClr val="F2C14E"/>
                </a:solidFill>
                <a:latin typeface="Aptos"/>
              </a:rPr>
              <a:t>Agent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2743200"/>
            <a:ext cx="242316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F7F3EA"/>
                </a:solidFill>
                <a:latin typeface="Aptos"/>
              </a:rPr>
              <a:t>資料夾技能包
需要時才載入
可用 Git 管理與分享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96128"/>
            <a:ext cx="9966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25313A"/>
                </a:solidFill>
                <a:latin typeface="Aptos"/>
              </a:rPr>
              <a:t>文章強調：Agent Skills 是包含指令與資源的資料夾，不只是更長的 prompt。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Project、MCP、Skills 如何協作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脈絡、工具與流程要分層設計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1188720"/>
            <a:ext cx="8183879" cy="822960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0280" y="1417320"/>
            <a:ext cx="1170432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17320"/>
            <a:ext cx="1645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固定工作桌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417320"/>
            <a:ext cx="35204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共享長期背景資料與指令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2423160"/>
            <a:ext cx="8183879" cy="822960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651760"/>
            <a:ext cx="1170432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1645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工具橋樑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651760"/>
            <a:ext cx="35204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連接外部服務、資料庫與檔案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3657600"/>
            <a:ext cx="8183879" cy="822960"/>
          </a:xfrm>
          <a:prstGeom prst="roundRect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3886200"/>
            <a:ext cx="1170432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886200"/>
            <a:ext cx="1645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專業流程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886200"/>
            <a:ext cx="35204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定義拿到工具與資料後怎麼用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413248"/>
            <a:ext cx="1028700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25313A"/>
                </a:solidFill>
                <a:latin typeface="Aptos"/>
              </a:rPr>
              <a:t>設計重點：不要把所有知識塞進一段 prompt，該持久的放 Project，該連接的交給 MCP，該執行的寫成 Skill。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技能包長什麼樣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最小可行 Skill 只需要 SKILL.md，進階需求再加資料夾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2834640" cy="365760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938528"/>
            <a:ext cx="1645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F2C14E"/>
                </a:solidFill>
                <a:latin typeface="Aptos"/>
              </a:rPr>
              <a:t>agent-skill/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2606040"/>
            <a:ext cx="190195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706624"/>
            <a:ext cx="96012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25313A"/>
                </a:solidFill>
                <a:latin typeface="Aptos"/>
              </a:rPr>
              <a:t>SKILL.md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2706624"/>
            <a:ext cx="41148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E85D4F"/>
                </a:solidFill>
                <a:latin typeface="Aptos"/>
              </a:rPr>
              <a:t>必要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3172968"/>
            <a:ext cx="190195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3273552"/>
            <a:ext cx="96012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25313A"/>
                </a:solidFill>
                <a:latin typeface="Aptos"/>
              </a:rPr>
              <a:t>references/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3273552"/>
            <a:ext cx="41148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E85D4F"/>
                </a:solidFill>
                <a:latin typeface="Aptos"/>
              </a:rPr>
              <a:t>選配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0432" y="3739896"/>
            <a:ext cx="190195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840480"/>
            <a:ext cx="96012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25313A"/>
                </a:solidFill>
                <a:latin typeface="Aptos"/>
              </a:rPr>
              <a:t>scripts/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3840480"/>
            <a:ext cx="41148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E85D4F"/>
                </a:solidFill>
                <a:latin typeface="Aptos"/>
              </a:rPr>
              <a:t>選配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4306824"/>
            <a:ext cx="190195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407408"/>
            <a:ext cx="96012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25313A"/>
                </a:solidFill>
                <a:latin typeface="Aptos"/>
              </a:rPr>
              <a:t>assets/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4407408"/>
            <a:ext cx="41148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E85D4F"/>
                </a:solidFill>
                <a:latin typeface="Aptos"/>
              </a:rPr>
              <a:t>選配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192024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1847088"/>
            <a:ext cx="5897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20" b="0">
                <a:solidFill>
                  <a:srgbClr val="25313A"/>
                </a:solidFill>
                <a:latin typeface="Aptos"/>
              </a:rPr>
              <a:t>references/ 放靜態參考文件，例如品牌指南或 API 文件。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245059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2377440"/>
            <a:ext cx="5897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20" b="0">
                <a:solidFill>
                  <a:srgbClr val="25313A"/>
                </a:solidFill>
                <a:latin typeface="Aptos"/>
              </a:rPr>
              <a:t>scripts/ 放自動化腳本，適合複雜運算或外部工具操作。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0" y="2980944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2907791"/>
            <a:ext cx="5897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20" b="0">
                <a:solidFill>
                  <a:srgbClr val="25313A"/>
                </a:solidFill>
                <a:latin typeface="Aptos"/>
              </a:rPr>
              <a:t>assets/ 放範本、圖片、數據清單等靜態資源。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351129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3438144"/>
            <a:ext cx="5897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20" b="0">
                <a:solidFill>
                  <a:srgbClr val="25313A"/>
                </a:solidFill>
                <a:latin typeface="Aptos"/>
              </a:rPr>
              <a:t>資料夾形式方便 zip 分享、雲端保存與 Git 版控。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SKILL.md 的兩層結構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名片負責觸發，說明書負責執行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4983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7648" y="1508760"/>
            <a:ext cx="4983480" cy="411480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2377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0B7C83"/>
                </a:solidFill>
                <a:latin typeface="Aptos"/>
              </a:rPr>
              <a:t>YAML Frontmatter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87168"/>
            <a:ext cx="3977639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64727D"/>
                </a:solidFill>
                <a:latin typeface="Aptos"/>
              </a:rPr>
              <a:t>AI 啟動時先看這段，用來判斷這次任務要不要派這個 Skill 出場。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246120"/>
            <a:ext cx="4069080" cy="1207008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3529584"/>
            <a:ext cx="32918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0">
                <a:solidFill>
                  <a:srgbClr val="25313A"/>
                </a:solidFill>
                <a:latin typeface="Aptos"/>
              </a:rPr>
              <a:t>name: meeting-summary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822191"/>
            <a:ext cx="35204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19" b="0">
                <a:solidFill>
                  <a:srgbClr val="25313A"/>
                </a:solidFill>
                <a:latin typeface="Aptos"/>
              </a:rPr>
              <a:t>description: 建立會議摘要，使用者提到逐字稿或會議錄音時觸發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901952"/>
            <a:ext cx="2377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F2C14E"/>
                </a:solidFill>
                <a:latin typeface="Aptos"/>
              </a:rPr>
              <a:t>Markdown 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3977639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F7F3EA"/>
                </a:solidFill>
                <a:latin typeface="Aptos"/>
              </a:rPr>
              <a:t>告訴 AI 具體怎麼做：輸出格式、分類規則、例外處理與品質標準。</a:t>
            </a:r>
          </a:p>
        </p:txBody>
      </p:sp>
      <p:sp>
        <p:nvSpPr>
          <p:cNvPr id="14" name="Oval 13"/>
          <p:cNvSpPr/>
          <p:nvPr/>
        </p:nvSpPr>
        <p:spPr>
          <a:xfrm>
            <a:off x="6656832" y="341071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7144" y="3337560"/>
            <a:ext cx="2971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F7F3EA"/>
                </a:solidFill>
                <a:latin typeface="Aptos"/>
              </a:rPr>
              <a:t>工作流程</a:t>
            </a:r>
          </a:p>
        </p:txBody>
      </p:sp>
      <p:sp>
        <p:nvSpPr>
          <p:cNvPr id="16" name="Oval 15"/>
          <p:cNvSpPr/>
          <p:nvPr/>
        </p:nvSpPr>
        <p:spPr>
          <a:xfrm>
            <a:off x="6656832" y="379476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67144" y="3721608"/>
            <a:ext cx="2971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F7F3EA"/>
                </a:solidFill>
                <a:latin typeface="Aptos"/>
              </a:rPr>
              <a:t>輸出格式</a:t>
            </a:r>
          </a:p>
        </p:txBody>
      </p:sp>
      <p:sp>
        <p:nvSpPr>
          <p:cNvPr id="18" name="Oval 17"/>
          <p:cNvSpPr/>
          <p:nvPr/>
        </p:nvSpPr>
        <p:spPr>
          <a:xfrm>
            <a:off x="6656832" y="4178808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67144" y="4105656"/>
            <a:ext cx="2971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F7F3EA"/>
                </a:solidFill>
                <a:latin typeface="Aptos"/>
              </a:rPr>
              <a:t>判斷標準</a:t>
            </a:r>
          </a:p>
        </p:txBody>
      </p:sp>
      <p:sp>
        <p:nvSpPr>
          <p:cNvPr id="20" name="Oval 19"/>
          <p:cNvSpPr/>
          <p:nvPr/>
        </p:nvSpPr>
        <p:spPr>
          <a:xfrm>
            <a:off x="6656832" y="456285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7144" y="4489704"/>
            <a:ext cx="2971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F7F3EA"/>
                </a:solidFill>
                <a:latin typeface="Aptos"/>
              </a:rPr>
              <a:t>模糊情境處理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漸進式載入三階段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Skill 可以裝很多，但每次只讀真正需要的部分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017520" cy="30175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148840"/>
            <a:ext cx="47548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74320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25313A"/>
                </a:solidFill>
                <a:latin typeface="Aptos"/>
              </a:rPr>
              <a:t>找名片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383280"/>
            <a:ext cx="21488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64727D"/>
                </a:solidFill>
                <a:latin typeface="Aptos"/>
              </a:rPr>
              <a:t>只讀 name 與 description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3346704"/>
            <a:ext cx="731520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63440" y="1828800"/>
            <a:ext cx="3017520" cy="301752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2" y="2148840"/>
            <a:ext cx="47548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2C14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274320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翻說明書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3383280"/>
            <a:ext cx="21488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F7F3EA"/>
                </a:solidFill>
                <a:latin typeface="Aptos"/>
              </a:rPr>
              <a:t>任務相關時才載入完整 SKILL.md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9" y="3346704"/>
            <a:ext cx="731521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0" y="1828800"/>
            <a:ext cx="3017520" cy="30175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1" y="2148840"/>
            <a:ext cx="47548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1" y="274320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25313A"/>
                </a:solidFill>
                <a:latin typeface="Aptos"/>
              </a:rPr>
              <a:t>開工具箱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1" y="3383280"/>
            <a:ext cx="21488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64727D"/>
                </a:solidFill>
                <a:latin typeface="Aptos"/>
              </a:rPr>
              <a:t>需要時才讀 references 或執行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149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25313A"/>
                </a:solidFill>
                <a:latin typeface="Aptos"/>
              </a:rPr>
              <a:t>這個設計保護 context window：避免專業手冊一次全塞進來，讓速度、成本與品質保持穩定。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四個寫出好 Skill 的原則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真正影響品質的是觸發、理由、篇幅與範例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892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819656"/>
            <a:ext cx="237744" cy="237744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81051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44348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包含做什麼、何時觸發、關鍵能力。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00200"/>
            <a:ext cx="4892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1819656"/>
            <a:ext cx="237744" cy="2377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81051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58568"/>
            <a:ext cx="44348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說明目的，讓 AI 能依情境變通。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0440"/>
            <a:ext cx="4892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739896"/>
            <a:ext cx="237744" cy="23774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73075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78808"/>
            <a:ext cx="44348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SKILL.md 控制篇幅，重資料放 references。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520440"/>
            <a:ext cx="4892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0" y="3739896"/>
            <a:ext cx="237744" cy="237744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373075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178808"/>
            <a:ext cx="44348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用 Before/After 校準，比堆規則更有效。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不用寫程式，聊出第一個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兩種路徑：需求清楚就直接打包，需求模糊就先跑通一次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754880" cy="342900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37960" y="1691640"/>
            <a:ext cx="4754880" cy="342900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121408"/>
            <a:ext cx="3474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80" b="1">
                <a:solidFill>
                  <a:srgbClr val="0B7C83"/>
                </a:solidFill>
                <a:latin typeface="Aptos"/>
              </a:rPr>
              <a:t>方式一：直接呼叫 Skill Creator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281635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2743200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25313A"/>
                </a:solidFill>
                <a:latin typeface="Aptos"/>
              </a:rPr>
              <a:t>描述目標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320040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3127248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25313A"/>
                </a:solidFill>
                <a:latin typeface="Aptos"/>
              </a:rPr>
              <a:t>回答觸發條件與格式問題</a:t>
            </a:r>
          </a:p>
        </p:txBody>
      </p:sp>
      <p:sp>
        <p:nvSpPr>
          <p:cNvPr id="12" name="Oval 11"/>
          <p:cNvSpPr/>
          <p:nvPr/>
        </p:nvSpPr>
        <p:spPr>
          <a:xfrm>
            <a:off x="1234440" y="3584448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511296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25313A"/>
                </a:solidFill>
                <a:latin typeface="Aptos"/>
              </a:rPr>
              <a:t>檢查 SKILL.md 初版</a:t>
            </a:r>
          </a:p>
        </p:txBody>
      </p:sp>
      <p:sp>
        <p:nvSpPr>
          <p:cNvPr id="14" name="Oval 13"/>
          <p:cNvSpPr/>
          <p:nvPr/>
        </p:nvSpPr>
        <p:spPr>
          <a:xfrm>
            <a:off x="1234440" y="396849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3895344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25313A"/>
                </a:solidFill>
                <a:latin typeface="Aptos"/>
              </a:rPr>
              <a:t>測試並迭代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2121408"/>
            <a:ext cx="3474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80" b="1">
                <a:solidFill>
                  <a:srgbClr val="F2C14E"/>
                </a:solidFill>
                <a:latin typeface="Aptos"/>
              </a:rPr>
              <a:t>方式二：先聊再打包</a:t>
            </a:r>
          </a:p>
        </p:txBody>
      </p:sp>
      <p:sp>
        <p:nvSpPr>
          <p:cNvPr id="17" name="Oval 16"/>
          <p:cNvSpPr/>
          <p:nvPr/>
        </p:nvSpPr>
        <p:spPr>
          <a:xfrm>
            <a:off x="6903720" y="281635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2743200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F7F3EA"/>
                </a:solidFill>
                <a:latin typeface="Aptos"/>
              </a:rPr>
              <a:t>先完整跑通一次任務</a:t>
            </a:r>
          </a:p>
        </p:txBody>
      </p:sp>
      <p:sp>
        <p:nvSpPr>
          <p:cNvPr id="19" name="Oval 18"/>
          <p:cNvSpPr/>
          <p:nvPr/>
        </p:nvSpPr>
        <p:spPr>
          <a:xfrm>
            <a:off x="6903720" y="320040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3127248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F7F3EA"/>
                </a:solidFill>
                <a:latin typeface="Aptos"/>
              </a:rPr>
              <a:t>記錄不滿與調整</a:t>
            </a:r>
          </a:p>
        </p:txBody>
      </p:sp>
      <p:sp>
        <p:nvSpPr>
          <p:cNvPr id="21" name="Oval 20"/>
          <p:cNvSpPr/>
          <p:nvPr/>
        </p:nvSpPr>
        <p:spPr>
          <a:xfrm>
            <a:off x="6903720" y="3584448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3511296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F7F3EA"/>
                </a:solidFill>
                <a:latin typeface="Aptos"/>
              </a:rPr>
              <a:t>提煉工作邏輯與踩坑</a:t>
            </a:r>
          </a:p>
        </p:txBody>
      </p:sp>
      <p:sp>
        <p:nvSpPr>
          <p:cNvPr id="23" name="Oval 22"/>
          <p:cNvSpPr/>
          <p:nvPr/>
        </p:nvSpPr>
        <p:spPr>
          <a:xfrm>
            <a:off x="6903720" y="396849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895344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F7F3EA"/>
                </a:solidFill>
                <a:latin typeface="Aptos"/>
              </a:rPr>
              <a:t>再交給 Skill Creator 打包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650992"/>
            <a:ext cx="99669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25313A"/>
                </a:solidFill>
                <a:latin typeface="Aptos"/>
              </a:rPr>
              <a:t>建立 Skill 是後設認知：起點是什麼、終點要什麼、中間靠哪些判斷標準。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生態系與安全查核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Skills 可以借用專家流程，但下載前要先自我防衛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1188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B7C83"/>
                </a:solidFill>
                <a:latin typeface="Aptos"/>
              </a:rPr>
              <a:t>三類來源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65176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2578608"/>
            <a:ext cx="3703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5313A"/>
                </a:solidFill>
                <a:latin typeface="Aptos"/>
              </a:rPr>
              <a:t>基礎 Skills：文件處理、網頁瀏覽、研究等通用能力。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315468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3081528"/>
            <a:ext cx="3703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5313A"/>
                </a:solidFill>
                <a:latin typeface="Aptos"/>
              </a:rPr>
              <a:t>第三方夥伴 Skills：由軟體公司開發的專業模組。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65760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3584448"/>
            <a:ext cx="3703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5313A"/>
                </a:solidFill>
                <a:latin typeface="Aptos"/>
              </a:rPr>
              <a:t>社群分享 Skills：使用者整理的流程包。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4846320" cy="384048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965960"/>
            <a:ext cx="1188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2C14E"/>
                </a:solidFill>
                <a:latin typeface="Aptos"/>
              </a:rPr>
              <a:t>安全三查</a:t>
            </a:r>
          </a:p>
        </p:txBody>
      </p:sp>
      <p:sp>
        <p:nvSpPr>
          <p:cNvPr id="15" name="Oval 14"/>
          <p:cNvSpPr/>
          <p:nvPr/>
        </p:nvSpPr>
        <p:spPr>
          <a:xfrm>
            <a:off x="6812280" y="265176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2578608"/>
            <a:ext cx="3703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F7F3EA"/>
                </a:solidFill>
                <a:latin typeface="Aptos"/>
              </a:rPr>
              <a:t>審核 scripts/ 是否包含看不懂或來源不明的程式。</a:t>
            </a:r>
          </a:p>
        </p:txBody>
      </p:sp>
      <p:sp>
        <p:nvSpPr>
          <p:cNvPr id="17" name="Oval 16"/>
          <p:cNvSpPr/>
          <p:nvPr/>
        </p:nvSpPr>
        <p:spPr>
          <a:xfrm>
            <a:off x="6812280" y="315468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3081528"/>
            <a:ext cx="3703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F7F3EA"/>
                </a:solidFill>
                <a:latin typeface="Aptos"/>
              </a:rPr>
              <a:t>閱讀 SKILL.md 是否要求外傳資料到不明網址。</a:t>
            </a:r>
          </a:p>
        </p:txBody>
      </p:sp>
      <p:sp>
        <p:nvSpPr>
          <p:cNvPr id="19" name="Oval 18"/>
          <p:cNvSpPr/>
          <p:nvPr/>
        </p:nvSpPr>
        <p:spPr>
          <a:xfrm>
            <a:off x="6812280" y="365760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3584448"/>
            <a:ext cx="3703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F7F3EA"/>
                </a:solidFill>
                <a:latin typeface="Aptos"/>
              </a:rPr>
              <a:t>新手優先選只包含文字指令的 Skill。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第一步行動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39B7A5"/>
                </a:solidFill>
                <a:latin typeface="Aptos"/>
              </a:rPr>
              <a:t>找一個每週重複三次的 AI 指令，今天就打包成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F7F3EA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22402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417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挑任務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01568"/>
            <a:ext cx="16916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每週重複、格式固定、容易驗證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182112"/>
            <a:ext cx="594360" cy="0"/>
          </a:xfrm>
          <a:prstGeom prst="line">
            <a:avLst/>
          </a:prstGeom>
          <a:ln w="25400">
            <a:solidFill>
              <a:srgbClr val="F2C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1920240"/>
            <a:ext cx="22402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212848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88920"/>
            <a:ext cx="1417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寫名片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01568"/>
            <a:ext cx="16916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description 說清楚何時觸發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3182112"/>
            <a:ext cx="594360" cy="0"/>
          </a:xfrm>
          <a:prstGeom prst="line">
            <a:avLst/>
          </a:prstGeom>
          <a:ln w="25400">
            <a:solidFill>
              <a:srgbClr val="F2C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60" y="1920240"/>
            <a:ext cx="22402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212848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88920"/>
            <a:ext cx="1417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定流程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401568"/>
            <a:ext cx="16916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輸入、判斷、輸出與例外處理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3182112"/>
            <a:ext cx="594360" cy="0"/>
          </a:xfrm>
          <a:prstGeom prst="line">
            <a:avLst/>
          </a:prstGeom>
          <a:ln w="25400">
            <a:solidFill>
              <a:srgbClr val="F2C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72600" y="1920240"/>
            <a:ext cx="22402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212848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788920"/>
            <a:ext cx="1417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測試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401568"/>
            <a:ext cx="16916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檢查觸發、品質與安全邊界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440680"/>
            <a:ext cx="9875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C14E"/>
                </a:solidFill>
                <a:latin typeface="Aptos"/>
              </a:rPr>
              <a:t>你累積的不再是混亂對話紀錄，而是一套可帶走、可複用的專業邏輯庫。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煎餃的調味實驗室｜2026-03-24 發佈／2026-06-06 更新｜gyozalab.com/agent-skills-guide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
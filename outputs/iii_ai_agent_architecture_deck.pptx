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42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7434072" y="1124712"/>
            <a:ext cx="2103120" cy="137160"/>
          </a:xfrm>
          <a:prstGeom prst="line">
            <a:avLst/>
          </a:prstGeom>
          <a:ln w="14604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537192" y="1124712"/>
            <a:ext cx="777240" cy="1417320"/>
          </a:xfrm>
          <a:prstGeom prst="line">
            <a:avLst/>
          </a:prstGeom>
          <a:ln w="14604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8714232" y="2542032"/>
            <a:ext cx="1600200" cy="704088"/>
          </a:xfrm>
          <a:prstGeom prst="line">
            <a:avLst/>
          </a:prstGeom>
          <a:ln w="14604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714232" y="3246120"/>
            <a:ext cx="1691640" cy="1627632"/>
          </a:xfrm>
          <a:prstGeom prst="line">
            <a:avLst/>
          </a:prstGeom>
          <a:ln w="14604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7754112" y="3246120"/>
            <a:ext cx="960120" cy="2039112"/>
          </a:xfrm>
          <a:prstGeom prst="line">
            <a:avLst/>
          </a:prstGeom>
          <a:ln w="14604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434072" y="1261872"/>
            <a:ext cx="1280160" cy="1984248"/>
          </a:xfrm>
          <a:prstGeom prst="line">
            <a:avLst/>
          </a:prstGeom>
          <a:ln w="14604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839712" y="3246120"/>
            <a:ext cx="1874520" cy="393192"/>
          </a:xfrm>
          <a:prstGeom prst="line">
            <a:avLst/>
          </a:prstGeom>
          <a:ln w="14604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39712" y="3639312"/>
            <a:ext cx="914400" cy="1645920"/>
          </a:xfrm>
          <a:prstGeom prst="line">
            <a:avLst/>
          </a:prstGeom>
          <a:ln w="14604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315200" y="1143000"/>
            <a:ext cx="237744" cy="237744"/>
          </a:xfrm>
          <a:prstGeom prst="ellipse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18320" y="1005840"/>
            <a:ext cx="237744" cy="237744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195560" y="2423160"/>
            <a:ext cx="237744" cy="237744"/>
          </a:xfrm>
          <a:prstGeom prst="ellipse">
            <a:avLst/>
          </a:prstGeom>
          <a:solidFill>
            <a:srgbClr val="3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95360" y="3127248"/>
            <a:ext cx="310896" cy="310896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87000" y="4754880"/>
            <a:ext cx="237744" cy="237744"/>
          </a:xfrm>
          <a:prstGeom prst="ellipse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5166360"/>
            <a:ext cx="237744" cy="237744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20840" y="3520440"/>
            <a:ext cx="237744" cy="237744"/>
          </a:xfrm>
          <a:prstGeom prst="ellipse">
            <a:avLst/>
          </a:prstGeom>
          <a:solidFill>
            <a:srgbClr val="3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1005840"/>
            <a:ext cx="5120640" cy="1234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ptos Display"/>
              </a:rPr>
              <a:t>AI Agent
架構全解析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560320"/>
            <a:ext cx="5120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F7F3EA"/>
                </a:solidFill>
                <a:latin typeface="Aptos"/>
              </a:rPr>
              <a:t>從 Google 白皮書到企業落地的技術藍圖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246120"/>
            <a:ext cx="4389120" cy="841248"/>
          </a:xfrm>
          <a:prstGeom prst="roundRect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502152"/>
            <a:ext cx="38862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ptos"/>
              </a:rPr>
              <a:t>重點：模型之外，還要設計工具、協調層、部署與 Agent 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F7F3EA"/>
                </a:solidFill>
                <a:latin typeface="Aptos"/>
              </a:rPr>
              <a:t>資策會數轉院｜2026-03-06｜ideas-dtri.iii.org.tw/產業資訊/ai-agent-3/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從「砌磚工」到「導演」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開發重心從寫死邏輯，轉向設定目標、環境、工具與護欄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463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37960" y="1600200"/>
            <a:ext cx="4846320" cy="3383280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38528"/>
            <a:ext cx="21945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25313A"/>
                </a:solidFill>
                <a:latin typeface="Aptos"/>
              </a:rPr>
              <a:t>Predictive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87168"/>
            <a:ext cx="24688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0B7C83"/>
                </a:solidFill>
                <a:latin typeface="Aptos"/>
              </a:rPr>
              <a:t>開發者像砌磚工</a:t>
            </a:r>
          </a:p>
        </p:txBody>
      </p:sp>
      <p:sp>
        <p:nvSpPr>
          <p:cNvPr id="9" name="Oval 8"/>
          <p:cNvSpPr/>
          <p:nvPr/>
        </p:nvSpPr>
        <p:spPr>
          <a:xfrm>
            <a:off x="1170432" y="3136392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0744" y="3063240"/>
            <a:ext cx="3611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25313A"/>
                </a:solidFill>
                <a:latin typeface="Aptos"/>
              </a:rPr>
              <a:t>明確定義每一步邏輯</a:t>
            </a:r>
          </a:p>
        </p:txBody>
      </p:sp>
      <p:sp>
        <p:nvSpPr>
          <p:cNvPr id="11" name="Oval 10"/>
          <p:cNvSpPr/>
          <p:nvPr/>
        </p:nvSpPr>
        <p:spPr>
          <a:xfrm>
            <a:off x="1170432" y="3557016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0744" y="3483864"/>
            <a:ext cx="3611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25313A"/>
                </a:solidFill>
                <a:latin typeface="Aptos"/>
              </a:rPr>
              <a:t>AI 主要負責預測與回覆</a:t>
            </a:r>
          </a:p>
        </p:txBody>
      </p:sp>
      <p:sp>
        <p:nvSpPr>
          <p:cNvPr id="13" name="Oval 12"/>
          <p:cNvSpPr/>
          <p:nvPr/>
        </p:nvSpPr>
        <p:spPr>
          <a:xfrm>
            <a:off x="1170432" y="3977640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744" y="3904488"/>
            <a:ext cx="3611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25313A"/>
                </a:solidFill>
                <a:latin typeface="Aptos"/>
              </a:rPr>
              <a:t>適合邊界清楚的單點任務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938528"/>
            <a:ext cx="21945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F2C14E"/>
                </a:solidFill>
                <a:latin typeface="Aptos"/>
              </a:rPr>
              <a:t>Agentic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487168"/>
            <a:ext cx="24688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F7F3EA"/>
                </a:solidFill>
                <a:latin typeface="Aptos"/>
              </a:rPr>
              <a:t>開發者像導演</a:t>
            </a:r>
          </a:p>
        </p:txBody>
      </p:sp>
      <p:sp>
        <p:nvSpPr>
          <p:cNvPr id="17" name="Oval 16"/>
          <p:cNvSpPr/>
          <p:nvPr/>
        </p:nvSpPr>
        <p:spPr>
          <a:xfrm>
            <a:off x="6931152" y="3136392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41464" y="3063240"/>
            <a:ext cx="352043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F7F3EA"/>
                </a:solidFill>
                <a:latin typeface="Aptos"/>
              </a:rPr>
              <a:t>設定場景、工具與目標</a:t>
            </a:r>
          </a:p>
        </p:txBody>
      </p:sp>
      <p:sp>
        <p:nvSpPr>
          <p:cNvPr id="19" name="Oval 18"/>
          <p:cNvSpPr/>
          <p:nvPr/>
        </p:nvSpPr>
        <p:spPr>
          <a:xfrm>
            <a:off x="6931152" y="3557016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3483864"/>
            <a:ext cx="352043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F7F3EA"/>
                </a:solidFill>
                <a:latin typeface="Aptos"/>
              </a:rPr>
              <a:t>Agent 自主規劃與修正</a:t>
            </a:r>
          </a:p>
        </p:txBody>
      </p:sp>
      <p:sp>
        <p:nvSpPr>
          <p:cNvPr id="21" name="Oval 20"/>
          <p:cNvSpPr/>
          <p:nvPr/>
        </p:nvSpPr>
        <p:spPr>
          <a:xfrm>
            <a:off x="6931152" y="3977640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41464" y="3904488"/>
            <a:ext cx="352043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F7F3EA"/>
                </a:solidFill>
                <a:latin typeface="Aptos"/>
              </a:rPr>
              <a:t>核心是上下文工程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42432" y="3273552"/>
            <a:ext cx="612648" cy="0"/>
          </a:xfrm>
          <a:prstGeom prst="line">
            <a:avLst/>
          </a:prstGeom>
          <a:ln w="35560">
            <a:solidFill>
              <a:srgbClr val="E85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989320" y="3108960"/>
            <a:ext cx="310896" cy="310896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資策會數轉院｜2026-03-06｜ideas-dtri.iii.org.tw/產業資訊/ai-agent-3/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AI Agent 的企業價值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不只是回答問題，而是把目標轉成可執行的工作流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1874519" cy="2331720"/>
          </a:xfrm>
          <a:prstGeom prst="roundRect">
            <a:avLst/>
          </a:prstGeom>
          <a:solidFill>
            <a:srgbClr val="E8F2E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21408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E85D4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13258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25313A"/>
                </a:solidFill>
                <a:latin typeface="Aptos"/>
              </a:rPr>
              <a:t>目標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72968"/>
            <a:ext cx="141732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60" b="0">
                <a:solidFill>
                  <a:srgbClr val="64727D"/>
                </a:solidFill>
                <a:latin typeface="Aptos"/>
              </a:rPr>
              <a:t>使用者或流程提出任務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60320" y="2999232"/>
            <a:ext cx="457200" cy="0"/>
          </a:xfrm>
          <a:prstGeom prst="line">
            <a:avLst/>
          </a:prstGeom>
          <a:ln w="26670">
            <a:solidFill>
              <a:srgbClr val="0B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17520" y="1874519"/>
            <a:ext cx="1874519" cy="2331720"/>
          </a:xfrm>
          <a:prstGeom prst="roundRect">
            <a:avLst/>
          </a:prstGeom>
          <a:solidFill>
            <a:srgbClr val="E8F2E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2121408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E85D4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697480"/>
            <a:ext cx="13258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25313A"/>
                </a:solidFill>
                <a:latin typeface="Aptos"/>
              </a:rPr>
              <a:t>規劃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72968"/>
            <a:ext cx="141732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60" b="0">
                <a:solidFill>
                  <a:srgbClr val="64727D"/>
                </a:solidFill>
                <a:latin typeface="Aptos"/>
              </a:rPr>
              <a:t>拆解步驟與選擇策略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92040" y="2999232"/>
            <a:ext cx="457200" cy="0"/>
          </a:xfrm>
          <a:prstGeom prst="line">
            <a:avLst/>
          </a:prstGeom>
          <a:ln w="26670">
            <a:solidFill>
              <a:srgbClr val="0B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349240" y="1874519"/>
            <a:ext cx="1874519" cy="2331720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2121408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F2C14E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2697480"/>
            <a:ext cx="13258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行動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3172968"/>
            <a:ext cx="141732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60" b="0">
                <a:solidFill>
                  <a:srgbClr val="F7F3EA"/>
                </a:solidFill>
                <a:latin typeface="Aptos"/>
              </a:rPr>
              <a:t>呼叫工具、API、資料庫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23759" y="2999232"/>
            <a:ext cx="457200" cy="0"/>
          </a:xfrm>
          <a:prstGeom prst="line">
            <a:avLst/>
          </a:prstGeom>
          <a:ln w="26670">
            <a:solidFill>
              <a:srgbClr val="0B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680959" y="1874519"/>
            <a:ext cx="1874519" cy="2331720"/>
          </a:xfrm>
          <a:prstGeom prst="roundRect">
            <a:avLst/>
          </a:prstGeom>
          <a:solidFill>
            <a:srgbClr val="E8F2E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39" y="2121408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E85D4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39" y="2697480"/>
            <a:ext cx="13258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25313A"/>
                </a:solidFill>
                <a:latin typeface="Aptos"/>
              </a:rPr>
              <a:t>觀察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39" y="3172968"/>
            <a:ext cx="141732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60" b="0">
                <a:solidFill>
                  <a:srgbClr val="64727D"/>
                </a:solidFill>
                <a:latin typeface="Aptos"/>
              </a:rPr>
              <a:t>讀取結果並判斷是否修正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555480" y="2999232"/>
            <a:ext cx="457200" cy="0"/>
          </a:xfrm>
          <a:prstGeom prst="line">
            <a:avLst/>
          </a:prstGeom>
          <a:ln w="26670">
            <a:solidFill>
              <a:srgbClr val="0B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012680" y="1874519"/>
            <a:ext cx="1874519" cy="2331720"/>
          </a:xfrm>
          <a:prstGeom prst="roundRect">
            <a:avLst/>
          </a:prstGeom>
          <a:solidFill>
            <a:srgbClr val="E8F2E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95559" y="2121408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E85D4F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59" y="2697480"/>
            <a:ext cx="13258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25313A"/>
                </a:solidFill>
                <a:latin typeface="Aptos"/>
              </a:rPr>
              <a:t>完成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59" y="3172968"/>
            <a:ext cx="141732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60" b="0">
                <a:solidFill>
                  <a:srgbClr val="64727D"/>
                </a:solidFill>
                <a:latin typeface="Aptos"/>
              </a:rPr>
              <a:t>交付工作成果與紀錄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102352"/>
            <a:ext cx="996696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5313A"/>
                </a:solidFill>
                <a:latin typeface="Aptos"/>
              </a:rPr>
              <a:t>企業真正要設計的是可被 Agent 接手、可觀測、可回滾的流程，而不是另一個聊天視窗。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資策會數轉院｜2026-03-06｜ideas-dtri.iii.org.tw/產業資訊/ai-agent-3/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Agent 的四大核心架構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模型只是大腦；要完成工作，還需要雙手、神經系統與身體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920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819656"/>
            <a:ext cx="237744" cy="237744"/>
          </a:xfrm>
          <a:prstGeom prst="ellipse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10512"/>
            <a:ext cx="40690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25313A"/>
                </a:solidFill>
                <a:latin typeface="Aptos"/>
              </a:rPr>
              <a:t>模型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58568"/>
            <a:ext cx="4434840" cy="731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0">
                <a:solidFill>
                  <a:srgbClr val="64727D"/>
                </a:solidFill>
                <a:latin typeface="Aptos"/>
              </a:rPr>
              <a:t>推理、規劃、決策；依任務在成本與效能間取捨。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600200"/>
            <a:ext cx="48920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20840" y="1819656"/>
            <a:ext cx="237744" cy="237744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1810512"/>
            <a:ext cx="40690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25313A"/>
                </a:solidFill>
                <a:latin typeface="Aptos"/>
              </a:rPr>
              <a:t>工具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258568"/>
            <a:ext cx="4434840" cy="731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0">
                <a:solidFill>
                  <a:srgbClr val="64727D"/>
                </a:solidFill>
                <a:latin typeface="Aptos"/>
              </a:rPr>
              <a:t>搜尋網路、讀取資料庫、執行程式碼或操作 API。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657600"/>
            <a:ext cx="48920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3877056"/>
            <a:ext cx="237744" cy="237744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867912"/>
            <a:ext cx="40690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25313A"/>
                </a:solidFill>
                <a:latin typeface="Aptos"/>
              </a:rPr>
              <a:t>協調層 Orchestration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315968"/>
            <a:ext cx="4434840" cy="731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0">
                <a:solidFill>
                  <a:srgbClr val="64727D"/>
                </a:solidFill>
                <a:latin typeface="Aptos"/>
              </a:rPr>
              <a:t>管理記憶、任務步驟與「推理-行動-觀察」迴圈。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657600"/>
            <a:ext cx="48920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20840" y="3877056"/>
            <a:ext cx="237744" cy="237744"/>
          </a:xfrm>
          <a:prstGeom prst="ellipse">
            <a:avLst/>
          </a:prstGeom>
          <a:solidFill>
            <a:srgbClr val="3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3867912"/>
            <a:ext cx="40690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25313A"/>
                </a:solidFill>
                <a:latin typeface="Aptos"/>
              </a:rPr>
              <a:t>部署 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315968"/>
            <a:ext cx="4434840" cy="731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0">
                <a:solidFill>
                  <a:srgbClr val="64727D"/>
                </a:solidFill>
                <a:latin typeface="Aptos"/>
              </a:rPr>
              <a:t>安全驗證、權限管理、擴展性與運行監控。</a:t>
            </a:r>
          </a:p>
        </p:txBody>
      </p:sp>
      <p:sp>
        <p:nvSpPr>
          <p:cNvPr id="21" name="Oval 20"/>
          <p:cNvSpPr/>
          <p:nvPr/>
        </p:nvSpPr>
        <p:spPr>
          <a:xfrm>
            <a:off x="5715000" y="2926080"/>
            <a:ext cx="786384" cy="786384"/>
          </a:xfrm>
          <a:prstGeom prst="ellipse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6168" y="3136392"/>
            <a:ext cx="402336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Agent
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資策會數轉院｜2026-03-06｜ideas-dtri.iii.org.tw/產業資訊/ai-agent-3/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代理系統的五級進化論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用能力分類判斷企業目前在哪一級、下一步該補什麼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069079"/>
            <a:ext cx="1737360" cy="1234440"/>
          </a:xfrm>
          <a:prstGeom prst="roundRect">
            <a:avLst/>
          </a:prstGeom>
          <a:solidFill>
            <a:srgbClr val="E8F2E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4279392"/>
            <a:ext cx="43891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E85D4F"/>
                </a:solidFill>
                <a:latin typeface="Aptos"/>
              </a:rPr>
              <a:t>L0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4727447"/>
            <a:ext cx="129844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20" b="1">
                <a:solidFill>
                  <a:srgbClr val="25313A"/>
                </a:solidFill>
                <a:latin typeface="Aptos"/>
              </a:rPr>
              <a:t>核心推理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5138927"/>
            <a:ext cx="1298448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0">
                <a:solidFill>
                  <a:srgbClr val="64727D"/>
                </a:solidFill>
                <a:latin typeface="Aptos"/>
              </a:rPr>
              <a:t>只能依訓練資料回答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90088" y="3593591"/>
            <a:ext cx="1737360" cy="1709928"/>
          </a:xfrm>
          <a:prstGeom prst="roundRect">
            <a:avLst/>
          </a:prstGeom>
          <a:solidFill>
            <a:srgbClr val="E8F2E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3803904"/>
            <a:ext cx="43891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E85D4F"/>
                </a:solidFill>
                <a:latin typeface="Aptos"/>
              </a:rPr>
              <a:t>L1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4251959"/>
            <a:ext cx="129844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20" b="1">
                <a:solidFill>
                  <a:srgbClr val="25313A"/>
                </a:solidFill>
                <a:latin typeface="Aptos"/>
              </a:rPr>
              <a:t>互聯問題解決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4663440"/>
            <a:ext cx="1298448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0">
                <a:solidFill>
                  <a:srgbClr val="64727D"/>
                </a:solidFill>
                <a:latin typeface="Aptos"/>
              </a:rPr>
              <a:t>能呼叫外部工具或檢索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94376" y="3118103"/>
            <a:ext cx="1737360" cy="2185416"/>
          </a:xfrm>
          <a:prstGeom prst="roundRect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8" y="3328415"/>
            <a:ext cx="43891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E85D4F"/>
                </a:solidFill>
                <a:latin typeface="Aptos"/>
              </a:rPr>
              <a:t>L2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58968" y="3776472"/>
            <a:ext cx="129844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20" b="1">
                <a:solidFill>
                  <a:srgbClr val="FFFFFF"/>
                </a:solidFill>
                <a:latin typeface="Aptos"/>
              </a:rPr>
              <a:t>策略性問題解決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58968" y="4187952"/>
            <a:ext cx="1298448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0">
                <a:solidFill>
                  <a:srgbClr val="F7F3EA"/>
                </a:solidFill>
                <a:latin typeface="Aptos"/>
              </a:rPr>
              <a:t>能長期規劃與拆解步驟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98664" y="2642615"/>
            <a:ext cx="1737360" cy="2660904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63256" y="2852927"/>
            <a:ext cx="43891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F2C14E"/>
                </a:solidFill>
                <a:latin typeface="Aptos"/>
              </a:rPr>
              <a:t>L3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63256" y="3300983"/>
            <a:ext cx="129844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20" b="1">
                <a:solidFill>
                  <a:srgbClr val="FFFFFF"/>
                </a:solidFill>
                <a:latin typeface="Aptos"/>
              </a:rPr>
              <a:t>協作式多代理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63256" y="3712463"/>
            <a:ext cx="1298448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0">
                <a:solidFill>
                  <a:srgbClr val="F7F3EA"/>
                </a:solidFill>
                <a:latin typeface="Aptos"/>
              </a:rPr>
              <a:t>多個專精 Agent 組隊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02952" y="2167127"/>
            <a:ext cx="1737360" cy="3136392"/>
          </a:xfrm>
          <a:prstGeom prst="roundRect">
            <a:avLst/>
          </a:prstGeom>
          <a:solidFill>
            <a:srgbClr val="E8F2E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67544" y="2377439"/>
            <a:ext cx="43891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E85D4F"/>
                </a:solidFill>
                <a:latin typeface="Aptos"/>
              </a:rPr>
              <a:t>L4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67544" y="2825496"/>
            <a:ext cx="129844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20" b="1">
                <a:solidFill>
                  <a:srgbClr val="25313A"/>
                </a:solidFill>
                <a:latin typeface="Aptos"/>
              </a:rPr>
              <a:t>自我演化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67544" y="3236975"/>
            <a:ext cx="1298448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0">
                <a:solidFill>
                  <a:srgbClr val="64727D"/>
                </a:solidFill>
                <a:latin typeface="Aptos"/>
              </a:rPr>
              <a:t>自我學習、生成工具或子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806440"/>
            <a:ext cx="102412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25313A"/>
                </a:solidFill>
                <a:latin typeface="Aptos"/>
              </a:rPr>
              <a:t>文章指出：多數領先企業正在從 Level 2 邁向 Level 3，治理難度也同步上升。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資策會數轉院｜2026-03-06｜ideas-dtri.iii.org.tw/產業資訊/ai-agent-3/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企業成熟度定位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Level 2 做流程，Level 3 做團隊；不要跳過可觀測性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1546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993392"/>
            <a:ext cx="8229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E85D4F"/>
                </a:solidFill>
                <a:latin typeface="Aptos"/>
              </a:rPr>
              <a:t>Level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51460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25313A"/>
                </a:solidFill>
                <a:latin typeface="Aptos"/>
              </a:rPr>
              <a:t>工具接入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182112"/>
            <a:ext cx="2377440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64727D"/>
                </a:solidFill>
                <a:latin typeface="Aptos"/>
              </a:rPr>
              <a:t>查詢、摘要、檢索
適合知識助理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645920"/>
            <a:ext cx="3154680" cy="3566160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3752" y="1993392"/>
            <a:ext cx="8229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F2C14E"/>
                </a:solidFill>
                <a:latin typeface="Aptos"/>
              </a:rPr>
              <a:t>Level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251460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"/>
              </a:rPr>
              <a:t>單流程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2" y="3182112"/>
            <a:ext cx="2377440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F7F3EA"/>
                </a:solidFill>
                <a:latin typeface="Aptos"/>
              </a:rPr>
              <a:t>拆解任務、調用工具
適合客服、核銷、合規查詢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645920"/>
            <a:ext cx="31546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68512" y="1993392"/>
            <a:ext cx="8229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E85D4F"/>
                </a:solidFill>
                <a:latin typeface="Aptos"/>
              </a:rPr>
              <a:t>Level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251460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25313A"/>
                </a:solidFill>
                <a:latin typeface="Aptos"/>
              </a:rPr>
              <a:t>多代理協作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3182112"/>
            <a:ext cx="2377440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0">
                <a:solidFill>
                  <a:srgbClr val="64727D"/>
                </a:solidFill>
                <a:latin typeface="Aptos"/>
              </a:rPr>
              <a:t>跨角色分工與互審
適合複雜研究與營運決策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715000"/>
            <a:ext cx="98755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25313A"/>
                </a:solidFill>
                <a:latin typeface="Aptos"/>
              </a:rPr>
              <a:t>升級前提：資料治理、權限邊界、工具穩定性、Eval 測試集與 Trace 可追蹤性。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資策會數轉院｜2026-03-06｜ideas-dtri.iii.org.tw/產業資訊/ai-agent-3/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為什麼一個 Agent 不夠用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複雜任務需要專家團隊模式，降低認知過載並提升可除錯性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0" y="1581912"/>
            <a:ext cx="210312" cy="1618488"/>
          </a:xfrm>
          <a:prstGeom prst="line">
            <a:avLst/>
          </a:prstGeom>
          <a:ln w="1651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880360" y="3200400"/>
            <a:ext cx="3273552" cy="27432"/>
          </a:xfrm>
          <a:prstGeom prst="line">
            <a:avLst/>
          </a:prstGeom>
          <a:ln w="1651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5943600" y="3200400"/>
            <a:ext cx="210312" cy="1673352"/>
          </a:xfrm>
          <a:prstGeom prst="line">
            <a:avLst/>
          </a:prstGeom>
          <a:ln w="1651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6153912" y="3200400"/>
            <a:ext cx="2852928" cy="27432"/>
          </a:xfrm>
          <a:prstGeom prst="line">
            <a:avLst/>
          </a:prstGeom>
          <a:ln w="1651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66360" y="2743200"/>
            <a:ext cx="1965960" cy="914400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50408" y="3035808"/>
            <a:ext cx="1143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合規查詢
任務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1234440"/>
            <a:ext cx="1920240" cy="786384"/>
          </a:xfrm>
          <a:prstGeom prst="roundRect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9784" y="1399032"/>
            <a:ext cx="74980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協調器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9592" y="1417320"/>
            <a:ext cx="841248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拆解任務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2880360"/>
            <a:ext cx="1920240" cy="786384"/>
          </a:xfrm>
          <a:prstGeom prst="roundRect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66544" y="3044952"/>
            <a:ext cx="74980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查詢分解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6352" y="3063240"/>
            <a:ext cx="841248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產生搜尋策略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80" y="4526280"/>
            <a:ext cx="1920240" cy="786384"/>
          </a:xfrm>
          <a:prstGeom prst="roundRect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9784" y="4690872"/>
            <a:ext cx="74980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評論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9592" y="4709160"/>
            <a:ext cx="841248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審核準確性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880360"/>
            <a:ext cx="1920240" cy="786384"/>
          </a:xfrm>
          <a:prstGeom prst="roundRect">
            <a:avLst/>
          </a:prstGeom>
          <a:solidFill>
            <a:srgbClr val="3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3024" y="3044952"/>
            <a:ext cx="74980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報告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3063240"/>
            <a:ext cx="841248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整合輸出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532120"/>
            <a:ext cx="1014984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25313A"/>
                </a:solidFill>
                <a:latin typeface="Aptos"/>
              </a:rPr>
              <a:t>若報告品質不佳，可定位是報告 Agent、評論 Agent 或資料查詢環節的問題，而不是整個系統黑箱。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資策會數轉院｜2026-03-06｜ideas-dtri.iii.org.tw/產業資訊/ai-agent-3/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連接萬物的標準：MCP、A2A、AP2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當企業有許多 Agent，互操作性會決定能否規模化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31546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01952" y="2084831"/>
            <a:ext cx="960120" cy="960120"/>
          </a:xfrm>
          <a:prstGeom prst="ellipse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30552" y="2414016"/>
            <a:ext cx="5029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3337560"/>
            <a:ext cx="24231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80" b="1">
                <a:solidFill>
                  <a:srgbClr val="25313A"/>
                </a:solidFill>
                <a:latin typeface="Aptos"/>
              </a:rPr>
              <a:t>Model Context 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3913632"/>
            <a:ext cx="242316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60" b="0">
                <a:solidFill>
                  <a:srgbClr val="64727D"/>
                </a:solidFill>
                <a:latin typeface="Aptos"/>
              </a:rPr>
              <a:t>像 USB 標準，讓模型連接資料源與工具。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691640"/>
            <a:ext cx="31546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96712" y="2084831"/>
            <a:ext cx="960120" cy="96012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25312" y="2414016"/>
            <a:ext cx="5029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A2A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5192" y="3337560"/>
            <a:ext cx="24231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80" b="1">
                <a:solidFill>
                  <a:srgbClr val="25313A"/>
                </a:solidFill>
                <a:latin typeface="Aptos"/>
              </a:rPr>
              <a:t>Agent2Agent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5192" y="3913632"/>
            <a:ext cx="242316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60" b="0">
                <a:solidFill>
                  <a:srgbClr val="64727D"/>
                </a:solidFill>
                <a:latin typeface="Aptos"/>
              </a:rPr>
              <a:t>Agent 交換 Agent Card，宣告能力並請求協作。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691640"/>
            <a:ext cx="31546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91472" y="2084831"/>
            <a:ext cx="960120" cy="96012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20072" y="2414016"/>
            <a:ext cx="5029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AP2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3337560"/>
            <a:ext cx="24231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80" b="1">
                <a:solidFill>
                  <a:srgbClr val="25313A"/>
                </a:solidFill>
                <a:latin typeface="Aptos"/>
              </a:rPr>
              <a:t>Agent Payments Protocol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9952" y="3913632"/>
            <a:ext cx="242316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60" b="0">
                <a:solidFill>
                  <a:srgbClr val="64727D"/>
                </a:solidFill>
                <a:latin typeface="Aptos"/>
              </a:rPr>
              <a:t>讓 Agent 進行訂票、採購等商業交易時具備授權與信任。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資策會數轉院｜2026-03-06｜ideas-dtri.iii.org.tw/產業資訊/ai-agent-3/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Agent Ops：駕馭不可預測性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Agent 的輸出具有機率性，因此營運要看過程、看品質、看回饋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2926080" cy="3611880"/>
          </a:xfrm>
          <a:prstGeom prst="roundRect">
            <a:avLst/>
          </a:prstGeom>
          <a:solidFill>
            <a:srgbClr val="E8F2E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17720" y="1645920"/>
            <a:ext cx="2926080" cy="3611880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58200" y="1645920"/>
            <a:ext cx="2926080" cy="361188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148840"/>
            <a:ext cx="23774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B7C83"/>
                </a:solidFill>
                <a:latin typeface="Aptos"/>
              </a:rPr>
              <a:t>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71800"/>
            <a:ext cx="201168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60" b="0">
                <a:solidFill>
                  <a:srgbClr val="64727D"/>
                </a:solidFill>
                <a:latin typeface="Aptos"/>
              </a:rPr>
              <a:t>AI 評 AI，評估答案是否準確、安全且符合任務。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4608" y="2148840"/>
            <a:ext cx="23774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2C14E"/>
                </a:solidFill>
                <a:latin typeface="Aptos"/>
              </a:rPr>
              <a:t>Traces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971800"/>
            <a:ext cx="201168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60" b="0">
                <a:solidFill>
                  <a:srgbClr val="F7F3EA"/>
                </a:solidFill>
                <a:latin typeface="Aptos"/>
              </a:rPr>
              <a:t>記錄思考過程、工具呼叫原因與中間觀察。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5088" y="2148840"/>
            <a:ext cx="23774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B7C83"/>
                </a:solidFill>
                <a:latin typeface="Aptos"/>
              </a:rPr>
              <a:t>Feedback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971800"/>
            <a:ext cx="201168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60" b="0">
                <a:solidFill>
                  <a:srgbClr val="64727D"/>
                </a:solidFill>
                <a:latin typeface="Aptos"/>
              </a:rPr>
              <a:t>把錯誤案例與使用者回饋導回測試與改進。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03320" y="3456432"/>
            <a:ext cx="914400" cy="0"/>
          </a:xfrm>
          <a:prstGeom prst="line">
            <a:avLst/>
          </a:prstGeom>
          <a:ln w="25400">
            <a:solidFill>
              <a:srgbClr val="E85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543800" y="3456432"/>
            <a:ext cx="914400" cy="0"/>
          </a:xfrm>
          <a:prstGeom prst="line">
            <a:avLst/>
          </a:prstGeom>
          <a:ln w="25400">
            <a:solidFill>
              <a:srgbClr val="E85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5779008"/>
            <a:ext cx="104241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20" b="1">
                <a:solidFill>
                  <a:srgbClr val="25313A"/>
                </a:solidFill>
                <a:latin typeface="Aptos"/>
              </a:rPr>
              <a:t>傳統測試：輸入 A 預期輸出 B。Agent Ops：同時治理輸出品質、推理軌跡與持續回饋。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資策會數轉院｜2026-03-06｜ideas-dtri.iii.org.tw/產業資訊/ai-agent-3/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前瞻案例：AI 共同科學家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多代理系統能把知識工作拆成探索、反思、生成與驗證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1920240"/>
            <a:ext cx="21945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64792" y="2267712"/>
            <a:ext cx="585216" cy="585216"/>
          </a:xfrm>
          <a:prstGeom prst="ellipse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154680"/>
            <a:ext cx="17373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25313A"/>
                </a:solidFill>
                <a:latin typeface="Aptos"/>
              </a:rPr>
              <a:t>文獻探索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3639312"/>
            <a:ext cx="1682496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30" b="0">
                <a:solidFill>
                  <a:srgbClr val="64727D"/>
                </a:solidFill>
                <a:latin typeface="Aptos"/>
              </a:rPr>
              <a:t>整理研究脈絡與證據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4680" y="3090672"/>
            <a:ext cx="594359" cy="320040"/>
          </a:xfrm>
          <a:prstGeom prst="line">
            <a:avLst/>
          </a:prstGeom>
          <a:ln w="21590">
            <a:solidFill>
              <a:srgbClr val="0B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49039" y="2240280"/>
            <a:ext cx="21945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53712" y="2587752"/>
            <a:ext cx="585216" cy="585216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39" y="3474720"/>
            <a:ext cx="17373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25313A"/>
                </a:solidFill>
                <a:latin typeface="Aptos"/>
              </a:rPr>
              <a:t>科學辯論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5072" y="3959352"/>
            <a:ext cx="1682496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30" b="0">
                <a:solidFill>
                  <a:srgbClr val="64727D"/>
                </a:solidFill>
                <a:latin typeface="Aptos"/>
              </a:rPr>
              <a:t>從不同角度挑戰假設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5943600" y="3090672"/>
            <a:ext cx="594359" cy="320040"/>
          </a:xfrm>
          <a:prstGeom prst="line">
            <a:avLst/>
          </a:prstGeom>
          <a:ln w="21590">
            <a:solidFill>
              <a:srgbClr val="0B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537959" y="1920240"/>
            <a:ext cx="21945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42631" y="2267712"/>
            <a:ext cx="585216" cy="585216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59" y="3154680"/>
            <a:ext cx="17373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25313A"/>
                </a:solidFill>
                <a:latin typeface="Aptos"/>
              </a:rPr>
              <a:t>假設生成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3992" y="3639312"/>
            <a:ext cx="1682496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30" b="0">
                <a:solidFill>
                  <a:srgbClr val="64727D"/>
                </a:solidFill>
                <a:latin typeface="Aptos"/>
              </a:rPr>
              <a:t>提出新穎研究方向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32519" y="3090672"/>
            <a:ext cx="594361" cy="320040"/>
          </a:xfrm>
          <a:prstGeom prst="line">
            <a:avLst/>
          </a:prstGeom>
          <a:ln w="21590">
            <a:solidFill>
              <a:srgbClr val="0B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326880" y="2240280"/>
            <a:ext cx="21945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31552" y="2587752"/>
            <a:ext cx="585216" cy="585216"/>
          </a:xfrm>
          <a:prstGeom prst="ellipse">
            <a:avLst/>
          </a:prstGeom>
          <a:solidFill>
            <a:srgbClr val="3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3474720"/>
            <a:ext cx="17373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25313A"/>
                </a:solidFill>
                <a:latin typeface="Aptos"/>
              </a:rPr>
              <a:t>驗證規劃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2911" y="3959352"/>
            <a:ext cx="1682496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30" b="0">
                <a:solidFill>
                  <a:srgbClr val="64727D"/>
                </a:solidFill>
                <a:latin typeface="Aptos"/>
              </a:rPr>
              <a:t>設計後續實驗與評估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49240"/>
            <a:ext cx="101498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80" b="1">
                <a:solidFill>
                  <a:srgbClr val="25313A"/>
                </a:solidFill>
                <a:latin typeface="Aptos"/>
              </a:rPr>
              <a:t>價值不只在加速文獻回顧，而是創造「人類科學家可能忽略」的新假設。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資策會數轉院｜2026-03-06｜ideas-dtri.iii.org.tw/產業資訊/ai-agent-3/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給台灣企業決策者的行動建議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從流程、資料、治理三件事開始，不要只買聊天框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74519"/>
            <a:ext cx="31546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093976"/>
            <a:ext cx="237744" cy="237744"/>
          </a:xfrm>
          <a:prstGeom prst="ellipse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084831"/>
            <a:ext cx="2331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25313A"/>
                </a:solidFill>
                <a:latin typeface="Aptos"/>
              </a:rPr>
              <a:t>重新思考工作流程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32887"/>
            <a:ext cx="2697480" cy="2331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0">
                <a:solidFill>
                  <a:srgbClr val="64727D"/>
                </a:solidFill>
                <a:latin typeface="Aptos"/>
              </a:rPr>
              <a:t>優先盤點重複性高、規則清楚、錯誤成本可控的流程。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874519"/>
            <a:ext cx="31546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92040" y="2093976"/>
            <a:ext cx="237744" cy="237744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2084831"/>
            <a:ext cx="2331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25313A"/>
                </a:solidFill>
                <a:latin typeface="Aptos"/>
              </a:rPr>
              <a:t>資料治理是基本功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532887"/>
            <a:ext cx="2697480" cy="2331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0">
                <a:solidFill>
                  <a:srgbClr val="64727D"/>
                </a:solidFill>
                <a:latin typeface="Aptos"/>
              </a:rPr>
              <a:t>Agent 能力取決於可取得、正確且有權限邊界的資料。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1874519"/>
            <a:ext cx="31546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0" y="2093976"/>
            <a:ext cx="237744" cy="237744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2084831"/>
            <a:ext cx="2331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25313A"/>
                </a:solidFill>
                <a:latin typeface="Aptos"/>
              </a:rPr>
              <a:t>建立人機協作治理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532887"/>
            <a:ext cx="2697480" cy="2331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0">
                <a:solidFill>
                  <a:srgbClr val="64727D"/>
                </a:solidFill>
                <a:latin typeface="Aptos"/>
              </a:rPr>
              <a:t>用 Guardrails、審計、覆核與 Agent Ops 防止越權決策。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資策會數轉院｜2026-03-06｜ideas-dtri.iii.org.tw/產業資訊/ai-agent-3/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導入路線圖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39B7A5"/>
                </a:solidFill>
                <a:latin typeface="Aptos"/>
              </a:rPr>
              <a:t>先把單一流程做穩，再擴展成可治理的數位團隊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F7F3EA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920240"/>
            <a:ext cx="224028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21992"/>
            <a:ext cx="43891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E85D4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1417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25313A"/>
                </a:solidFill>
                <a:latin typeface="Aptos"/>
              </a:rPr>
              <a:t>選流程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01568"/>
            <a:ext cx="1664208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64727D"/>
                </a:solidFill>
                <a:latin typeface="Aptos"/>
              </a:rPr>
              <a:t>高重複、規則清楚、資料可控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0" y="3182112"/>
            <a:ext cx="594360" cy="0"/>
          </a:xfrm>
          <a:prstGeom prst="line">
            <a:avLst/>
          </a:prstGeom>
          <a:ln w="25400">
            <a:solidFill>
              <a:srgbClr val="F2C1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03320" y="1920240"/>
            <a:ext cx="224028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2221992"/>
            <a:ext cx="43891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E85D4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788920"/>
            <a:ext cx="1417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25313A"/>
                </a:solidFill>
                <a:latin typeface="Aptos"/>
              </a:rPr>
              <a:t>接工具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401568"/>
            <a:ext cx="1664208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64727D"/>
                </a:solidFill>
                <a:latin typeface="Aptos"/>
              </a:rPr>
              <a:t>API、資料庫、權限與回滾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0" y="3182112"/>
            <a:ext cx="594360" cy="0"/>
          </a:xfrm>
          <a:prstGeom prst="line">
            <a:avLst/>
          </a:prstGeom>
          <a:ln w="25400">
            <a:solidFill>
              <a:srgbClr val="F2C1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537960" y="1920240"/>
            <a:ext cx="224028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221992"/>
            <a:ext cx="43891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E85D4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788920"/>
            <a:ext cx="1417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25313A"/>
                </a:solidFill>
                <a:latin typeface="Aptos"/>
              </a:rPr>
              <a:t>建治理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401568"/>
            <a:ext cx="1664208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64727D"/>
                </a:solidFill>
                <a:latin typeface="Aptos"/>
              </a:rPr>
              <a:t>Eval、Trace、Feedback Loop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78240" y="3182112"/>
            <a:ext cx="594360" cy="0"/>
          </a:xfrm>
          <a:prstGeom prst="line">
            <a:avLst/>
          </a:prstGeom>
          <a:ln w="25400">
            <a:solidFill>
              <a:srgbClr val="F2C1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372600" y="1920240"/>
            <a:ext cx="224028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2221992"/>
            <a:ext cx="43891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E85D4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788920"/>
            <a:ext cx="1417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25313A"/>
                </a:solidFill>
                <a:latin typeface="Aptos"/>
              </a:rPr>
              <a:t>擴團隊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401568"/>
            <a:ext cx="1664208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64727D"/>
                </a:solidFill>
                <a:latin typeface="Aptos"/>
              </a:rPr>
              <a:t>從 Level 2 走向 Level 3 多代理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440680"/>
            <a:ext cx="9875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2C14E"/>
                </a:solidFill>
                <a:latin typeface="Aptos"/>
              </a:rPr>
              <a:t>AI 不會取代所有人；能用 Agent 組建數位團隊的企業，會先取得效率與創新的複利。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F7F3EA"/>
                </a:solidFill>
                <a:latin typeface="Aptos"/>
              </a:rPr>
              <a:t>資策會數轉院｜2026-03-06｜ideas-dtri.iii.org.tw/產業資訊/ai-agent-3/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
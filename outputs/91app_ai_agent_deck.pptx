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498079" y="1005840"/>
            <a:ext cx="219456" cy="219456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1417320"/>
            <a:ext cx="219456" cy="219456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2743200"/>
            <a:ext cx="310896" cy="310896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32720" y="3977639"/>
            <a:ext cx="219456" cy="219456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18120" y="4572000"/>
            <a:ext cx="219456" cy="219456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7607807" y="1115568"/>
            <a:ext cx="1828800" cy="411480"/>
          </a:xfrm>
          <a:prstGeom prst="line">
            <a:avLst/>
          </a:prstGeom>
          <a:ln w="1524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842248" y="1527048"/>
            <a:ext cx="594359" cy="1325880"/>
          </a:xfrm>
          <a:prstGeom prst="line">
            <a:avLst/>
          </a:prstGeom>
          <a:ln w="1524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842248" y="2852928"/>
            <a:ext cx="1600200" cy="1234440"/>
          </a:xfrm>
          <a:prstGeom prst="line">
            <a:avLst/>
          </a:prstGeom>
          <a:ln w="1524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7927848" y="2852928"/>
            <a:ext cx="914400" cy="1828800"/>
          </a:xfrm>
          <a:prstGeom prst="line">
            <a:avLst/>
          </a:prstGeom>
          <a:ln w="1524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07807" y="1115568"/>
            <a:ext cx="1234441" cy="1737360"/>
          </a:xfrm>
          <a:prstGeom prst="line">
            <a:avLst/>
          </a:prstGeom>
          <a:ln w="15240">
            <a:solidFill>
              <a:srgbClr val="39B7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1078992"/>
            <a:ext cx="62179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3500" b="1">
                <a:solidFill>
                  <a:srgbClr val="FFFFFF"/>
                </a:solidFill>
                <a:latin typeface="Aptos Display"/>
              </a:rPr>
              <a:t>AI Agent 與 AXO 時代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20240"/>
            <a:ext cx="557784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0">
                <a:solidFill>
                  <a:srgbClr val="F7F3EA"/>
                </a:solidFill>
                <a:latin typeface="Aptos"/>
              </a:rPr>
              <a:t>從自主代理、企業應用到搜尋體驗最佳化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761488"/>
            <a:ext cx="4434840" cy="822960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008376"/>
            <a:ext cx="3931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80" b="1">
                <a:solidFill>
                  <a:srgbClr val="FFFFFF"/>
                </a:solidFill>
                <a:latin typeface="Aptos"/>
              </a:rPr>
              <a:t>當搜尋被外包給 AI Agent，品牌要開始優化 AI 的體驗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91APP｜2026-03-11｜https://91app.com/blog/what-is-aiagent/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為什麼現在談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AI 正從推理者，走向可自主完成任務的代理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160520"/>
            <a:ext cx="1645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4343400"/>
            <a:ext cx="1417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25313A"/>
                </a:solidFill>
                <a:latin typeface="Aptos"/>
              </a:rPr>
              <a:t>Chatbot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4663440"/>
            <a:ext cx="14173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0">
                <a:solidFill>
                  <a:srgbClr val="64727D"/>
                </a:solidFill>
                <a:latin typeface="Aptos"/>
              </a:rPr>
              <a:t>回覆問題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68880" y="4069080"/>
            <a:ext cx="594360" cy="512064"/>
          </a:xfrm>
          <a:prstGeom prst="line">
            <a:avLst/>
          </a:prstGeom>
          <a:ln w="2032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063240" y="3657600"/>
            <a:ext cx="1645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72968" y="3840480"/>
            <a:ext cx="1417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25313A"/>
                </a:solidFill>
                <a:latin typeface="Aptos"/>
              </a:rPr>
              <a:t>Reasoner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4160520"/>
            <a:ext cx="14173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0">
                <a:solidFill>
                  <a:srgbClr val="64727D"/>
                </a:solidFill>
                <a:latin typeface="Aptos"/>
              </a:rPr>
              <a:t>推理判斷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4709160" y="3566160"/>
            <a:ext cx="594360" cy="512064"/>
          </a:xfrm>
          <a:prstGeom prst="line">
            <a:avLst/>
          </a:prstGeom>
          <a:ln w="2032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03520" y="3154679"/>
            <a:ext cx="1645920" cy="841248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3248" y="3337560"/>
            <a:ext cx="1417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F2C14E"/>
                </a:solidFill>
                <a:latin typeface="Aptos"/>
              </a:rPr>
              <a:t>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13248" y="3657600"/>
            <a:ext cx="14173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0">
                <a:solidFill>
                  <a:srgbClr val="F7F3EA"/>
                </a:solidFill>
                <a:latin typeface="Aptos"/>
              </a:rPr>
              <a:t>規劃行動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949440" y="3063239"/>
            <a:ext cx="594360" cy="512064"/>
          </a:xfrm>
          <a:prstGeom prst="line">
            <a:avLst/>
          </a:prstGeom>
          <a:ln w="2032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43800" y="2651759"/>
            <a:ext cx="1645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7" y="2834639"/>
            <a:ext cx="1417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25313A"/>
                </a:solidFill>
                <a:latin typeface="Aptos"/>
              </a:rPr>
              <a:t>Innovator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154679"/>
            <a:ext cx="14173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0">
                <a:solidFill>
                  <a:srgbClr val="64727D"/>
                </a:solidFill>
                <a:latin typeface="Aptos"/>
              </a:rPr>
              <a:t>創造方案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9189720" y="2560319"/>
            <a:ext cx="594360" cy="512064"/>
          </a:xfrm>
          <a:prstGeom prst="line">
            <a:avLst/>
          </a:prstGeom>
          <a:ln w="2032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84080" y="2148839"/>
            <a:ext cx="16459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93808" y="2331720"/>
            <a:ext cx="141732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25313A"/>
                </a:solidFill>
                <a:latin typeface="Aptos"/>
              </a:rPr>
              <a:t>Orchestrator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8" y="2651759"/>
            <a:ext cx="14173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30" b="0">
                <a:solidFill>
                  <a:srgbClr val="64727D"/>
                </a:solidFill>
                <a:latin typeface="Aptos"/>
              </a:rPr>
              <a:t>組織協作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1645920"/>
            <a:ext cx="5212080" cy="7498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25313A"/>
                </a:solidFill>
                <a:latin typeface="Aptos"/>
              </a:rPr>
              <a:t>文章指出，產業共識正從「推理者」快速跨入「代理 Agent」爆發臨界點。企業導入重點也從工具試用，轉向流程重設。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737360"/>
            <a:ext cx="4389120" cy="6583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64727D"/>
                </a:solidFill>
                <a:latin typeface="Aptos"/>
              </a:rPr>
              <a:t>關鍵差異不是 AI 回答得更快，而是 AI 能否自己拆解任務、調用工具、觀察結果並修正策略。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91APP｜2026-03-11｜https://91app.com/blog/what-is-aiagent/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AI Agent、Chatbot、RPA 的差異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從被動回覆，到目標導向的自主行動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00200"/>
            <a:ext cx="3154680" cy="347472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19" y="1965960"/>
            <a:ext cx="411480" cy="411480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993392"/>
            <a:ext cx="1645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25313A"/>
                </a:solidFill>
                <a:latin typeface="Aptos"/>
              </a:rPr>
              <a:t>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2743200"/>
            <a:ext cx="242316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64727D"/>
                </a:solidFill>
                <a:latin typeface="Aptos"/>
              </a:rPr>
              <a:t>一問一答
依腳本或 FAQ 回覆
工具使用有限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600200"/>
            <a:ext cx="3154680" cy="3474720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37759" y="1965960"/>
            <a:ext cx="411480" cy="411480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0" y="1993392"/>
            <a:ext cx="1645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25313A"/>
                </a:solidFill>
                <a:latin typeface="Aptos"/>
              </a:rPr>
              <a:t>RPA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5192" y="2743200"/>
            <a:ext cx="242316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64727D"/>
                </a:solidFill>
                <a:latin typeface="Aptos"/>
              </a:rPr>
              <a:t>固定 SOP
流程穩定時效率高
遇到例外易停機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59" y="1600200"/>
            <a:ext cx="3154680" cy="347472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799" y="1965960"/>
            <a:ext cx="411480" cy="41148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39" y="1993392"/>
            <a:ext cx="1645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F2C14E"/>
                </a:solidFill>
                <a:latin typeface="Aptos"/>
              </a:rPr>
              <a:t>AI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14232" y="2743200"/>
            <a:ext cx="2423160" cy="1325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F7F3EA"/>
                </a:solidFill>
                <a:latin typeface="Aptos"/>
              </a:rPr>
              <a:t>理解目標
自主規劃與調用工具
失敗後可觀測並修正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91APP｜2026-03-11｜https://91app.com/blog/what-is-aiagent/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拆解 AI Agent 的大腦：7 大核心架構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成熟 Agent 是一組可觀測、可行動、可學習的系統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5943600" y="1472184"/>
            <a:ext cx="320040" cy="2029968"/>
          </a:xfrm>
          <a:prstGeom prst="line">
            <a:avLst/>
          </a:prstGeom>
          <a:ln w="1397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>
            <a:off x="5943600" y="2157984"/>
            <a:ext cx="2697480" cy="1344168"/>
          </a:xfrm>
          <a:prstGeom prst="line">
            <a:avLst/>
          </a:prstGeom>
          <a:ln w="1397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5943600" y="3502152"/>
            <a:ext cx="2788920" cy="621792"/>
          </a:xfrm>
          <a:prstGeom prst="line">
            <a:avLst/>
          </a:prstGeom>
          <a:ln w="1397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5943600" y="3502152"/>
            <a:ext cx="320040" cy="1536192"/>
          </a:xfrm>
          <a:prstGeom prst="line">
            <a:avLst/>
          </a:prstGeom>
          <a:ln w="1397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3794760" y="3502152"/>
            <a:ext cx="2148840" cy="667512"/>
          </a:xfrm>
          <a:prstGeom prst="line">
            <a:avLst/>
          </a:prstGeom>
          <a:ln w="1397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657600" y="2157984"/>
            <a:ext cx="2286000" cy="1344168"/>
          </a:xfrm>
          <a:prstGeom prst="line">
            <a:avLst/>
          </a:prstGeom>
          <a:ln w="1397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828800" y="3209544"/>
            <a:ext cx="4114800" cy="292608"/>
          </a:xfrm>
          <a:prstGeom prst="line">
            <a:avLst/>
          </a:prstGeom>
          <a:ln w="13970">
            <a:solidFill>
              <a:srgbClr val="CBD6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394960" y="2953512"/>
            <a:ext cx="1097280" cy="1097280"/>
          </a:xfrm>
          <a:prstGeom prst="ellipse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05856" y="3282696"/>
            <a:ext cx="47548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AI
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1143000"/>
            <a:ext cx="1828800" cy="658368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58968" y="1307592"/>
            <a:ext cx="56692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感知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07607" y="1325880"/>
            <a:ext cx="9601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Perception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828800"/>
            <a:ext cx="1828800" cy="658368"/>
          </a:xfrm>
          <a:prstGeom prst="round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36407" y="1993392"/>
            <a:ext cx="56692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Core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011680"/>
            <a:ext cx="9601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目標編碼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3794760"/>
            <a:ext cx="1828800" cy="658368"/>
          </a:xfrm>
          <a:prstGeom prst="roundRect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7848" y="3959352"/>
            <a:ext cx="56692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記憶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6488" y="3977640"/>
            <a:ext cx="9601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Memory / RAG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49240" y="4709160"/>
            <a:ext cx="1828800" cy="658368"/>
          </a:xfrm>
          <a:prstGeom prst="roundRect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58968" y="4873752"/>
            <a:ext cx="56692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規劃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07607" y="4892040"/>
            <a:ext cx="9601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Reasoning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80360" y="3840480"/>
            <a:ext cx="1828800" cy="658368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90088" y="4005072"/>
            <a:ext cx="56692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行動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38728" y="4023360"/>
            <a:ext cx="9601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Tools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1828800"/>
            <a:ext cx="1828800" cy="658368"/>
          </a:xfrm>
          <a:prstGeom prst="roundRect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1993392"/>
            <a:ext cx="56692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觀測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2011680"/>
            <a:ext cx="9601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Feedback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80360"/>
            <a:ext cx="1828800" cy="658368"/>
          </a:xfrm>
          <a:prstGeom prst="roundRect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4128" y="3044952"/>
            <a:ext cx="566928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學習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72768" y="3063240"/>
            <a:ext cx="9601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869" b="1">
                <a:solidFill>
                  <a:srgbClr val="FFFFFF"/>
                </a:solidFill>
                <a:latin typeface="Aptos"/>
              </a:rPr>
              <a:t>Learning Loop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91APP｜2026-03-11｜https://91app.com/blog/what-is-aiagent/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運作閉環：東京機票與行程案例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Agent 的價值在於遇到例外時能觀測、調整、再行動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874519" cy="219456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76272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13258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25313A"/>
                </a:solidFill>
                <a:latin typeface="Aptos"/>
              </a:rPr>
              <a:t>感知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14173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0" b="0">
                <a:solidFill>
                  <a:srgbClr val="64727D"/>
                </a:solidFill>
                <a:latin typeface="Aptos"/>
              </a:rPr>
              <a:t>目的地、時間、預算、任務類型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60320" y="3017520"/>
            <a:ext cx="457200" cy="0"/>
          </a:xfrm>
          <a:prstGeom prst="line">
            <a:avLst/>
          </a:prstGeom>
          <a:ln w="2794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017520" y="1920240"/>
            <a:ext cx="1874519" cy="219456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176272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697480"/>
            <a:ext cx="13258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25313A"/>
                </a:solidFill>
                <a:latin typeface="Aptos"/>
              </a:rPr>
              <a:t>規劃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00400"/>
            <a:ext cx="14173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0" b="0">
                <a:solidFill>
                  <a:srgbClr val="64727D"/>
                </a:solidFill>
                <a:latin typeface="Aptos"/>
              </a:rPr>
              <a:t>航班、飯店、景點、交通、日曆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92040" y="3017520"/>
            <a:ext cx="457200" cy="0"/>
          </a:xfrm>
          <a:prstGeom prst="line">
            <a:avLst/>
          </a:prstGeom>
          <a:ln w="2794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349240" y="1920240"/>
            <a:ext cx="1874519" cy="219456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32120" y="2176272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697480"/>
            <a:ext cx="13258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25313A"/>
                </a:solidFill>
                <a:latin typeface="Aptos"/>
              </a:rPr>
              <a:t>行動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3200400"/>
            <a:ext cx="14173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0" b="0">
                <a:solidFill>
                  <a:srgbClr val="64727D"/>
                </a:solidFill>
                <a:latin typeface="Aptos"/>
              </a:rPr>
              <a:t>Skyscanner、Booking、Maps、Calendar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23759" y="3017520"/>
            <a:ext cx="457200" cy="0"/>
          </a:xfrm>
          <a:prstGeom prst="line">
            <a:avLst/>
          </a:prstGeom>
          <a:ln w="2794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680959" y="1920240"/>
            <a:ext cx="1874519" cy="219456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39" y="2176272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2C14E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39" y="2697480"/>
            <a:ext cx="13258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Aptos"/>
              </a:rPr>
              <a:t>觀測調整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39" y="3200400"/>
            <a:ext cx="14173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0" b="0">
                <a:solidFill>
                  <a:srgbClr val="F7F3EA"/>
                </a:solidFill>
                <a:latin typeface="Aptos"/>
              </a:rPr>
              <a:t>客滿或失敗時回到規劃層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555480" y="3017520"/>
            <a:ext cx="457200" cy="0"/>
          </a:xfrm>
          <a:prstGeom prst="line">
            <a:avLst/>
          </a:prstGeom>
          <a:ln w="2794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12680" y="1920240"/>
            <a:ext cx="1874519" cy="219456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59" y="2176272"/>
            <a:ext cx="41148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59" y="2697480"/>
            <a:ext cx="13258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25313A"/>
                </a:solidFill>
                <a:latin typeface="Aptos"/>
              </a:rPr>
              <a:t>學習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59" y="3200400"/>
            <a:ext cx="14173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40" b="0">
                <a:solidFill>
                  <a:srgbClr val="64727D"/>
                </a:solidFill>
                <a:latin typeface="Aptos"/>
              </a:rPr>
              <a:t>記住住宿與航班偏好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91APP｜2026-03-11｜https://91app.com/blog/what-is-aiagent/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三類實際應用場景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從個人數位分身、企業流程，到多代理協作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31546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956815"/>
            <a:ext cx="237744" cy="237744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947672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B2C 個人分身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95728"/>
            <a:ext cx="2697480" cy="24688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自動比價、表單填寫、行事曆整合、收件匣管理、研究助理。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737360"/>
            <a:ext cx="31546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46320" y="1956815"/>
            <a:ext cx="237744" cy="237744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0" y="1947672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B2B 營運代理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395728"/>
            <a:ext cx="2697480" cy="24688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Lead Scoring、客製化開發信、HR 審批、客服退換貨。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1737360"/>
            <a:ext cx="3154680" cy="3246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41080" y="1956815"/>
            <a:ext cx="237744" cy="237744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947672"/>
            <a:ext cx="23317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50" b="1">
                <a:solidFill>
                  <a:srgbClr val="25313A"/>
                </a:solidFill>
                <a:latin typeface="Aptos"/>
              </a:rPr>
              <a:t>Developer 多代理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2395728"/>
            <a:ext cx="2697480" cy="24688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LangChain / LangGraph、AutoGen、CrewAI、Google A2A。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91APP｜2026-03-11｜https://91app.com/blog/what-is-aiagent/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企業導入挑戰與治理解法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Agent 會執行動作，因此治理要比聊天工具更嚴格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2880360" cy="658368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51960" y="1508760"/>
            <a:ext cx="2514600" cy="658368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69480" y="1508760"/>
            <a:ext cx="3794760" cy="65836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728216"/>
            <a:ext cx="23317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1">
                <a:solidFill>
                  <a:srgbClr val="25313A"/>
                </a:solidFill>
                <a:latin typeface="Aptos"/>
              </a:rPr>
              <a:t>幻覺與決策失控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728216"/>
            <a:ext cx="20574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1">
                <a:solidFill>
                  <a:srgbClr val="F2C14E"/>
                </a:solidFill>
                <a:latin typeface="Aptos"/>
              </a:rPr>
              <a:t>Human-in-the-loop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79792" y="1709928"/>
            <a:ext cx="31546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64727D"/>
                </a:solidFill>
                <a:latin typeface="Aptos"/>
              </a:rPr>
              <a:t>金流、法律、敏感資料操作要有人確認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532888"/>
            <a:ext cx="2880360" cy="658368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60" y="2532888"/>
            <a:ext cx="2514600" cy="658368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69480" y="2532888"/>
            <a:ext cx="3794760" cy="65836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752344"/>
            <a:ext cx="23317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1">
                <a:solidFill>
                  <a:srgbClr val="25313A"/>
                </a:solidFill>
                <a:latin typeface="Aptos"/>
              </a:rPr>
              <a:t>資料外洩與權限過大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752344"/>
            <a:ext cx="20574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1">
                <a:solidFill>
                  <a:srgbClr val="F2C14E"/>
                </a:solidFill>
                <a:latin typeface="Aptos"/>
              </a:rPr>
              <a:t>RBAC / 地端部署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9792" y="2734056"/>
            <a:ext cx="31546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64727D"/>
                </a:solidFill>
                <a:latin typeface="Aptos"/>
              </a:rPr>
              <a:t>用最小權限與本地模型降低外洩風險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557016"/>
            <a:ext cx="2880360" cy="658368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60" y="3557016"/>
            <a:ext cx="2514600" cy="658368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9480" y="3557016"/>
            <a:ext cx="3794760" cy="65836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3776472"/>
            <a:ext cx="23317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1">
                <a:solidFill>
                  <a:srgbClr val="25313A"/>
                </a:solidFill>
                <a:latin typeface="Aptos"/>
              </a:rPr>
              <a:t>Prompt Injection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776472"/>
            <a:ext cx="20574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1">
                <a:solidFill>
                  <a:srgbClr val="F2C14E"/>
                </a:solidFill>
                <a:latin typeface="Aptos"/>
              </a:rPr>
              <a:t>輸入過濾 / 指令隔離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9792" y="3758184"/>
            <a:ext cx="31546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64727D"/>
                </a:solidFill>
                <a:latin typeface="Aptos"/>
              </a:rPr>
              <a:t>防止惡意指令混入 Agent 執行流程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4581144"/>
            <a:ext cx="2880360" cy="658368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51960" y="4581144"/>
            <a:ext cx="2514600" cy="658368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4581144"/>
            <a:ext cx="3794760" cy="658368"/>
          </a:xfrm>
          <a:prstGeom prst="roundRect">
            <a:avLst/>
          </a:prstGeom>
          <a:solidFill>
            <a:srgbClr val="F7F3EA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800600"/>
            <a:ext cx="233172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1">
                <a:solidFill>
                  <a:srgbClr val="25313A"/>
                </a:solidFill>
                <a:latin typeface="Aptos"/>
              </a:rPr>
              <a:t>責任與可追蹤性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800600"/>
            <a:ext cx="2057400" cy="12801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060" b="1">
                <a:solidFill>
                  <a:srgbClr val="F2C14E"/>
                </a:solidFill>
                <a:latin typeface="Aptos"/>
              </a:rPr>
              <a:t>Audit 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9792" y="4782312"/>
            <a:ext cx="31546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0">
                <a:solidFill>
                  <a:srgbClr val="64727D"/>
                </a:solidFill>
                <a:latin typeface="Aptos"/>
              </a:rPr>
              <a:t>完整記錄每次 Agent 操作與結果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91APP｜2026-03-11｜https://91app.com/blog/what-is-aiagent/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搜尋行為典範轉移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39B7A5"/>
                </a:solidFill>
                <a:latin typeface="Aptos"/>
              </a:rPr>
              <a:t>從人類搜尋點擊，走向 Agent 代搜尋、代比較、代交易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F7F3EA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709160" cy="3337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11680"/>
            <a:ext cx="1371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傳統 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743200"/>
            <a:ext cx="20116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64727D"/>
                </a:solidFill>
                <a:latin typeface="Aptos"/>
              </a:rPr>
              <a:t>人類輸入關鍵字</a:t>
            </a:r>
          </a:p>
        </p:txBody>
      </p:sp>
      <p:sp>
        <p:nvSpPr>
          <p:cNvPr id="8" name="Oval 7"/>
          <p:cNvSpPr/>
          <p:nvPr/>
        </p:nvSpPr>
        <p:spPr>
          <a:xfrm>
            <a:off x="1115568" y="2761488"/>
            <a:ext cx="118872" cy="118872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3090672"/>
            <a:ext cx="20116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64727D"/>
                </a:solidFill>
                <a:latin typeface="Aptos"/>
              </a:rPr>
              <a:t>瀏覽搜尋結果</a:t>
            </a:r>
          </a:p>
        </p:txBody>
      </p:sp>
      <p:sp>
        <p:nvSpPr>
          <p:cNvPr id="10" name="Oval 9"/>
          <p:cNvSpPr/>
          <p:nvPr/>
        </p:nvSpPr>
        <p:spPr>
          <a:xfrm>
            <a:off x="1938528" y="3108960"/>
            <a:ext cx="118872" cy="118872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438144"/>
            <a:ext cx="20116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64727D"/>
                </a:solidFill>
                <a:latin typeface="Aptos"/>
              </a:rPr>
              <a:t>點擊進站</a:t>
            </a:r>
          </a:p>
        </p:txBody>
      </p:sp>
      <p:sp>
        <p:nvSpPr>
          <p:cNvPr id="12" name="Oval 11"/>
          <p:cNvSpPr/>
          <p:nvPr/>
        </p:nvSpPr>
        <p:spPr>
          <a:xfrm>
            <a:off x="2761488" y="3456432"/>
            <a:ext cx="118872" cy="118872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3785616"/>
            <a:ext cx="201168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64727D"/>
                </a:solidFill>
                <a:latin typeface="Aptos"/>
              </a:rPr>
              <a:t>自行比較與下單</a:t>
            </a:r>
          </a:p>
        </p:txBody>
      </p:sp>
      <p:sp>
        <p:nvSpPr>
          <p:cNvPr id="14" name="Oval 13"/>
          <p:cNvSpPr/>
          <p:nvPr/>
        </p:nvSpPr>
        <p:spPr>
          <a:xfrm>
            <a:off x="3584448" y="3803904"/>
            <a:ext cx="118872" cy="118872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1691640"/>
            <a:ext cx="4709160" cy="3337560"/>
          </a:xfrm>
          <a:prstGeom prst="roundRect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2011680"/>
            <a:ext cx="155448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Agent 時代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743200"/>
            <a:ext cx="20574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FFFFFF"/>
                </a:solidFill>
                <a:latin typeface="Aptos"/>
              </a:rPr>
              <a:t>使用者交付目標</a:t>
            </a:r>
          </a:p>
        </p:txBody>
      </p:sp>
      <p:sp>
        <p:nvSpPr>
          <p:cNvPr id="18" name="Oval 17"/>
          <p:cNvSpPr/>
          <p:nvPr/>
        </p:nvSpPr>
        <p:spPr>
          <a:xfrm>
            <a:off x="6830568" y="2761488"/>
            <a:ext cx="118872" cy="11887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3090672"/>
            <a:ext cx="20574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FFFFFF"/>
                </a:solidFill>
                <a:latin typeface="Aptos"/>
              </a:rPr>
              <a:t>Agent 搜尋與篩選</a:t>
            </a:r>
          </a:p>
        </p:txBody>
      </p:sp>
      <p:sp>
        <p:nvSpPr>
          <p:cNvPr id="20" name="Oval 19"/>
          <p:cNvSpPr/>
          <p:nvPr/>
        </p:nvSpPr>
        <p:spPr>
          <a:xfrm>
            <a:off x="7653527" y="3108960"/>
            <a:ext cx="118872" cy="11887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3438144"/>
            <a:ext cx="20574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FFFFFF"/>
                </a:solidFill>
                <a:latin typeface="Aptos"/>
              </a:rPr>
              <a:t>比較可信來源</a:t>
            </a:r>
          </a:p>
        </p:txBody>
      </p:sp>
      <p:sp>
        <p:nvSpPr>
          <p:cNvPr id="22" name="Oval 21"/>
          <p:cNvSpPr/>
          <p:nvPr/>
        </p:nvSpPr>
        <p:spPr>
          <a:xfrm>
            <a:off x="8476488" y="3456432"/>
            <a:ext cx="118872" cy="11887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3785616"/>
            <a:ext cx="205740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50" b="0">
                <a:solidFill>
                  <a:srgbClr val="FFFFFF"/>
                </a:solidFill>
                <a:latin typeface="Aptos"/>
              </a:rPr>
              <a:t>直接預約或交易</a:t>
            </a:r>
          </a:p>
        </p:txBody>
      </p:sp>
      <p:sp>
        <p:nvSpPr>
          <p:cNvPr id="24" name="Oval 23"/>
          <p:cNvSpPr/>
          <p:nvPr/>
        </p:nvSpPr>
        <p:spPr>
          <a:xfrm>
            <a:off x="9299448" y="3803904"/>
            <a:ext cx="118872" cy="11887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71800" y="5623560"/>
            <a:ext cx="6217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2C14E"/>
                </a:solidFill>
                <a:latin typeface="Aptos"/>
              </a:rPr>
              <a:t>新競爭關鍵：被 Agent 找到、信任、引用、操作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91APP｜2026-03-11｜https://91app.com/blog/what-is-aiagent/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AAO 四大優化方向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AI Agent Optimization：讓代理找得到、信任你、能操作，也能被控管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508760"/>
            <a:ext cx="4389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207008" y="1892807"/>
            <a:ext cx="438912" cy="438912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19" y="1837943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找得到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286000"/>
            <a:ext cx="2971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Schema.org、語義化 HTML、乾淨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1508760"/>
            <a:ext cx="4389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73368" y="1892807"/>
            <a:ext cx="438912" cy="438912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1837943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願意引用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2286000"/>
            <a:ext cx="2971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E-E-A-T、作者、數據來源、第三方背書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566160"/>
            <a:ext cx="4389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07008" y="3950208"/>
            <a:ext cx="438912" cy="438912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74519" y="3895344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能行動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343400"/>
            <a:ext cx="2971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預約 API、查詢端點、交易介面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3566160"/>
            <a:ext cx="43891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73368" y="3950208"/>
            <a:ext cx="438912" cy="438912"/>
          </a:xfrm>
          <a:prstGeom prst="ellipse">
            <a:avLst/>
          </a:prstGeom>
          <a:solidFill>
            <a:srgbClr val="39B7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0" y="3895344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25313A"/>
                </a:solidFill>
                <a:latin typeface="Aptos"/>
              </a:rPr>
              <a:t>保護自己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4343400"/>
            <a:ext cx="29718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80" b="0">
                <a:solidFill>
                  <a:srgbClr val="64727D"/>
                </a:solidFill>
                <a:latin typeface="Aptos"/>
              </a:rPr>
              <a:t>robots.txt、AI 爬蟲協議、版權聲明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91APP｜2026-03-11｜https://91app.com/blog/what-is-aiagent/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從 SEO 走向 AXO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SEO 沒有死，但需要服務新的使用者：AI 代理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57400"/>
            <a:ext cx="2468880" cy="137160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423160"/>
            <a:ext cx="19659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7C83"/>
                </a:solidFill>
                <a:latin typeface="Aptos"/>
              </a:rPr>
              <a:t>SEO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907792"/>
            <a:ext cx="19659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4727D"/>
                </a:solidFill>
                <a:latin typeface="Aptos"/>
              </a:rPr>
              <a:t>人類搜尋體驗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566160" y="2743200"/>
            <a:ext cx="1097280" cy="0"/>
          </a:xfrm>
          <a:prstGeom prst="line">
            <a:avLst/>
          </a:prstGeom>
          <a:ln w="30480">
            <a:solidFill>
              <a:srgbClr val="E85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63440" y="2057400"/>
            <a:ext cx="2468880" cy="1371600"/>
          </a:xfrm>
          <a:prstGeom prst="roundRect">
            <a:avLst/>
          </a:prstGeom>
          <a:solidFill>
            <a:srgbClr val="E8F2E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2423160"/>
            <a:ext cx="19659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B7C83"/>
                </a:solidFill>
                <a:latin typeface="Aptos"/>
              </a:rPr>
              <a:t>AAO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907792"/>
            <a:ext cx="19659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4727D"/>
                </a:solidFill>
                <a:latin typeface="Aptos"/>
              </a:rPr>
              <a:t>Agent 找到、引用、行動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32320" y="2743200"/>
            <a:ext cx="1097280" cy="0"/>
          </a:xfrm>
          <a:prstGeom prst="line">
            <a:avLst/>
          </a:prstGeom>
          <a:ln w="30480">
            <a:solidFill>
              <a:srgbClr val="E85D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229600" y="2057400"/>
            <a:ext cx="2468880" cy="1371600"/>
          </a:xfrm>
          <a:prstGeom prst="roundRect">
            <a:avLst/>
          </a:prstGeom>
          <a:solidFill>
            <a:srgbClr val="1F2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423160"/>
            <a:ext cx="196596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2C14E"/>
                </a:solidFill>
                <a:latin typeface="Aptos"/>
              </a:rPr>
              <a:t>AXO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907792"/>
            <a:ext cx="19659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F7F3EA"/>
                </a:solidFill>
                <a:latin typeface="Aptos"/>
              </a:rPr>
              <a:t>AI eXperience Optimization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4800600"/>
            <a:ext cx="80467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5313A"/>
                </a:solidFill>
                <a:latin typeface="Aptos"/>
              </a:rPr>
              <a:t>未來品牌網站不只要讓人看懂，也要讓 AI Agent 能解析、信任、引用並完成任務。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91APP｜2026-03-11｜https://91app.com/blog/what-is-aiagent/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25313A"/>
                </a:solidFill>
                <a:latin typeface="Aptos Display"/>
              </a:rPr>
              <a:t>導入行動指南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0B7C83"/>
                </a:solidFill>
                <a:latin typeface="Aptos"/>
              </a:rPr>
              <a:t>從單一高價值流程開始，逐步建立可治理的 Agent 工作流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64727D"/>
                </a:solidFill>
                <a:latin typeface="Aptos"/>
              </a:rPr>
              <a:t>ARTICLE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2240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1508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0-30 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6002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25313A"/>
                </a:solidFill>
                <a:latin typeface="Aptos"/>
              </a:rPr>
              <a:t>選定流程
盤點資料與工具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971800"/>
            <a:ext cx="548640" cy="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657600" y="1828800"/>
            <a:ext cx="2240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86200" y="2148840"/>
            <a:ext cx="1508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31-60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2788920"/>
            <a:ext cx="16002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25313A"/>
                </a:solidFill>
                <a:latin typeface="Aptos"/>
              </a:rPr>
              <a:t>建立 PoC
加入人工審核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97880" y="2971800"/>
            <a:ext cx="548640" cy="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46520" y="1828800"/>
            <a:ext cx="2240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148840"/>
            <a:ext cx="1508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61-90 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788920"/>
            <a:ext cx="16002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25313A"/>
                </a:solidFill>
                <a:latin typeface="Aptos"/>
              </a:rPr>
              <a:t>串接 API
建立稽核與回饋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86800" y="2971800"/>
            <a:ext cx="548640" cy="0"/>
          </a:xfrm>
          <a:prstGeom prst="line">
            <a:avLst/>
          </a:prstGeom>
          <a:ln w="25400">
            <a:solidFill>
              <a:srgbClr val="0B7C8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35439" y="1828800"/>
            <a:ext cx="22402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39" y="2148840"/>
            <a:ext cx="15087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" b="1">
                <a:solidFill>
                  <a:srgbClr val="E85D4F"/>
                </a:solidFill>
                <a:latin typeface="Aptos"/>
              </a:rPr>
              <a:t>90 天後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39" y="2788920"/>
            <a:ext cx="16002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" b="0">
                <a:solidFill>
                  <a:srgbClr val="25313A"/>
                </a:solidFill>
                <a:latin typeface="Aptos"/>
              </a:rPr>
              <a:t>擴展到多流程
佈局 AAO / AXO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257800"/>
            <a:ext cx="804672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B7C83"/>
                </a:solidFill>
                <a:latin typeface="Aptos"/>
              </a:rPr>
              <a:t>先小規模驗證效益，再逐步擴展；治理與網站可操作性要同步設計。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64727D"/>
                </a:solidFill>
                <a:latin typeface="Aptos"/>
              </a:rPr>
              <a:t>91APP｜2026-03-11｜https://91app.com/blog/what-is-aiagent/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8412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700" b="1">
                <a:solidFill>
                  <a:srgbClr val="FFFFFF"/>
                </a:solidFill>
                <a:latin typeface="Aptos Display"/>
              </a:rPr>
              <a:t>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59536"/>
            <a:ext cx="78638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80" b="1">
                <a:solidFill>
                  <a:srgbClr val="39B7A5"/>
                </a:solidFill>
                <a:latin typeface="Aptos"/>
              </a:rPr>
              <a:t>AI Agent 改變的不只是 AI 工具，而是企業流程與數位行銷入口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32720" y="420624"/>
            <a:ext cx="128016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1">
                <a:solidFill>
                  <a:srgbClr val="F7F3EA"/>
                </a:solidFill>
                <a:latin typeface="Aptos"/>
              </a:rPr>
              <a:t>ARTICLE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53035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Aptos Display"/>
              </a:rPr>
              <a:t>AI Agent 是會行動的 AI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496312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2423160"/>
            <a:ext cx="5440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0">
                <a:solidFill>
                  <a:srgbClr val="F7F3EA"/>
                </a:solidFill>
                <a:latin typeface="Aptos"/>
              </a:rPr>
              <a:t>企業價值來自流程重設，而不是單點工具導入。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118104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3044952"/>
            <a:ext cx="5440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0">
                <a:solidFill>
                  <a:srgbClr val="F7F3EA"/>
                </a:solidFill>
                <a:latin typeface="Aptos"/>
              </a:rPr>
              <a:t>安全可控的 Agent 需要權限、審核、稽核與回饋設計。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739896"/>
            <a:ext cx="91440" cy="9144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666744"/>
            <a:ext cx="54406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450" b="0">
                <a:solidFill>
                  <a:srgbClr val="F7F3EA"/>
                </a:solidFill>
                <a:latin typeface="Aptos"/>
              </a:rPr>
              <a:t>SEO 的下一步，是讓品牌被人類與 AI Agent 同時理解、信任並操作。</a:t>
            </a:r>
          </a:p>
        </p:txBody>
      </p:sp>
      <p:sp>
        <p:nvSpPr>
          <p:cNvPr id="12" name="Oval 11"/>
          <p:cNvSpPr/>
          <p:nvPr/>
        </p:nvSpPr>
        <p:spPr>
          <a:xfrm>
            <a:off x="7406640" y="2834640"/>
            <a:ext cx="914400" cy="914400"/>
          </a:xfrm>
          <a:prstGeom prst="ellipse">
            <a:avLst/>
          </a:prstGeom>
          <a:solidFill>
            <a:srgbClr val="0B7C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19" y="3182112"/>
            <a:ext cx="5486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Human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0" y="3291840"/>
            <a:ext cx="411479" cy="0"/>
          </a:xfrm>
          <a:prstGeom prst="line">
            <a:avLst/>
          </a:prstGeom>
          <a:ln w="17780">
            <a:solidFill>
              <a:srgbClr val="F7F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732519" y="2834640"/>
            <a:ext cx="914400" cy="914400"/>
          </a:xfrm>
          <a:prstGeom prst="ellipse">
            <a:avLst/>
          </a:prstGeom>
          <a:solidFill>
            <a:srgbClr val="F2C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399" y="3182112"/>
            <a:ext cx="5486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Agent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646919" y="3291840"/>
            <a:ext cx="411480" cy="0"/>
          </a:xfrm>
          <a:prstGeom prst="line">
            <a:avLst/>
          </a:prstGeom>
          <a:ln w="17780">
            <a:solidFill>
              <a:srgbClr val="F7F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10058400" y="2834640"/>
            <a:ext cx="914400" cy="914400"/>
          </a:xfrm>
          <a:prstGeom prst="ellipse">
            <a:avLst/>
          </a:prstGeom>
          <a:solidFill>
            <a:srgbClr val="E85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0" y="3182112"/>
            <a:ext cx="548640" cy="109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Brand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720" b="0">
                <a:solidFill>
                  <a:srgbClr val="F7F3EA"/>
                </a:solidFill>
                <a:latin typeface="Aptos"/>
              </a:rPr>
              <a:t>91APP｜2026-03-11｜https://91app.com/blog/what-is-aiagent/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與 AXO 時代</dc:title>
  <dc:subject>91APP AI Agent 文章摘要簡報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
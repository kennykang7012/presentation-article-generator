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424927" y="1170432"/>
            <a:ext cx="2468880" cy="18288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424927" y="1170432"/>
            <a:ext cx="1508761" cy="182880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933688" y="1353312"/>
            <a:ext cx="960119" cy="164592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7562088" y="2999232"/>
            <a:ext cx="1371600" cy="182880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933688" y="2999232"/>
            <a:ext cx="1097279" cy="196596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62088" y="4828032"/>
            <a:ext cx="2468879" cy="13716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0" y="914400"/>
            <a:ext cx="1234440" cy="530352"/>
          </a:xfrm>
          <a:prstGeom prst="roundRect">
            <a:avLst/>
          </a:prstGeom>
          <a:solidFill>
            <a:srgbClr val="3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0296" y="1088136"/>
            <a:ext cx="10515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LM 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097280"/>
            <a:ext cx="1234440" cy="53035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09176" y="1271016"/>
            <a:ext cx="10515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Gemma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743200"/>
            <a:ext cx="1234440" cy="530352"/>
          </a:xfrm>
          <a:prstGeom prst="roundRect">
            <a:avLst/>
          </a:prstGeom>
          <a:solidFill>
            <a:srgbClr val="B6E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2916936"/>
            <a:ext cx="10515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localhost:1234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4572000"/>
            <a:ext cx="1234440" cy="530352"/>
          </a:xfrm>
          <a:prstGeom prst="roundRect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77456" y="4745736"/>
            <a:ext cx="10515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4709160"/>
            <a:ext cx="1234440" cy="530352"/>
          </a:xfrm>
          <a:prstGeom prst="round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6336" y="4882896"/>
            <a:ext cx="10515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960120"/>
            <a:ext cx="55778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 Display"/>
              </a:rPr>
              <a:t>Gemma 4 + Pi
本機 Coding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542032"/>
            <a:ext cx="5394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F7F3EA"/>
                </a:solidFill>
                <a:latin typeface="Aptos"/>
              </a:rPr>
              <a:t>用 LM Studio 把開放模型接到 terminal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246120"/>
            <a:ext cx="4892040" cy="8686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529584"/>
            <a:ext cx="4389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1">
                <a:solidFill>
                  <a:srgbClr val="FFFFFF"/>
                </a:solidFill>
                <a:latin typeface="Aptos"/>
              </a:rPr>
              <a:t>模型在本機、API 在 localhost、工具在 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為什麼要跑本機 Coding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不是取代雲端模型，而是取得控制權與實驗空間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154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956815"/>
            <a:ext cx="237744" cy="23774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94767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資料控制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2697480" cy="11887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程式碼與文件留在自己的機器，適合敏感 repo 與離線實驗。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737360"/>
            <a:ext cx="3154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1956815"/>
            <a:ext cx="237744" cy="237744"/>
          </a:xfrm>
          <a:prstGeom prst="ellipse">
            <a:avLst/>
          </a:prstGeom>
          <a:solidFill>
            <a:srgbClr val="3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94767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可調校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95728"/>
            <a:ext cx="2697480" cy="11887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模型、量化、context size、GPU offload 都能自己調。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737360"/>
            <a:ext cx="3154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41080" y="1956815"/>
            <a:ext cx="237744" cy="237744"/>
          </a:xfrm>
          <a:prstGeom prst="ellipse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4767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低延遲迭代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395728"/>
            <a:ext cx="2697480" cy="11887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terminal agent 可直接讀寫檔案、執行指令、快速修正。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572000"/>
            <a:ext cx="9921240" cy="713232"/>
          </a:xfrm>
          <a:prstGeom prst="roundRect">
            <a:avLst/>
          </a:prstGeom>
          <a:solidFill>
            <a:srgbClr val="2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4752" y="4818888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F7F3EA"/>
                </a:solidFill>
                <a:latin typeface="Aptos"/>
              </a:rPr>
              <a:t>提醒：本機模型不等於可信模型；它仍可能 hallucinate、誤用工具或產生危險 shell 指令。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三層架構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模型服務、OpenAI-compatible API、terminal coding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971800" cy="2331720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121408"/>
            <a:ext cx="329184" cy="329184"/>
          </a:xfrm>
          <a:prstGeom prst="ellipse">
            <a:avLst/>
          </a:prstGeom>
          <a:solidFill>
            <a:srgbClr val="3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2139696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25313A"/>
                </a:solidFill>
                <a:latin typeface="Aptos"/>
              </a:rPr>
              <a:t>LM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926080"/>
            <a:ext cx="23317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60" b="0">
                <a:solidFill>
                  <a:srgbClr val="64727D"/>
                </a:solidFill>
                <a:latin typeface="Aptos"/>
              </a:rPr>
              <a:t>下載 GGUF、設定量化、啟動 local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2971800" cy="2331720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82312" y="2121408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139696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25313A"/>
                </a:solidFill>
                <a:latin typeface="Aptos"/>
              </a:rPr>
              <a:t>Gemma 4 26B A4B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2926080"/>
            <a:ext cx="23317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60" b="0">
                <a:solidFill>
                  <a:srgbClr val="64727D"/>
                </a:solidFill>
                <a:latin typeface="Aptos"/>
              </a:rPr>
              <a:t>本機推論，支援 function calling 與 thinking modes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2971800" cy="2331720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85632" y="2121408"/>
            <a:ext cx="329184" cy="329184"/>
          </a:xfrm>
          <a:prstGeom prst="ellipse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2832" y="2139696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25313A"/>
                </a:solidFill>
                <a:latin typeface="Aptos"/>
              </a:rPr>
              <a:t>Pi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926080"/>
            <a:ext cx="23317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60" b="0">
                <a:solidFill>
                  <a:srgbClr val="64727D"/>
                </a:solidFill>
                <a:latin typeface="Aptos"/>
              </a:rPr>
              <a:t>在 terminal 中使用 read/write/edit/bash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94760" y="2926080"/>
            <a:ext cx="685800" cy="0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79" y="2926080"/>
            <a:ext cx="685800" cy="0"/>
          </a:xfrm>
          <a:prstGeom prst="line">
            <a:avLst/>
          </a:prstGeom>
          <a:ln w="279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43400" y="4983480"/>
            <a:ext cx="3520440" cy="475488"/>
          </a:xfrm>
          <a:prstGeom prst="roundRect">
            <a:avLst/>
          </a:prstGeom>
          <a:solidFill>
            <a:srgbClr val="2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5148072"/>
            <a:ext cx="30632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6E35D"/>
                </a:solidFill>
                <a:latin typeface="Aptos"/>
              </a:rPr>
              <a:t>http://localhost:1234/v1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為什麼選 Gemma 4 26B A4B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MoE 讓本機 coding agent 在品質與速度之間取得甜蜜點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4754880" cy="3566160"/>
          </a:xfrm>
          <a:prstGeom prst="roundRect">
            <a:avLst/>
          </a:prstGeom>
          <a:solidFill>
            <a:srgbClr val="2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148840"/>
            <a:ext cx="33832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B6E35D"/>
                </a:solidFill>
                <a:latin typeface="Aptos"/>
              </a:rPr>
              <a:t>26B total
4B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913632"/>
            <a:ext cx="35204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30" b="0">
                <a:solidFill>
                  <a:srgbClr val="F7F3EA"/>
                </a:solidFill>
                <a:latin typeface="Aptos"/>
              </a:rPr>
              <a:t>Mixture-of-Experts：每個 token 只啟用部分參數，但完整權重仍要載入記憶體。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90195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828800"/>
            <a:ext cx="4069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20" b="0">
                <a:solidFill>
                  <a:srgbClr val="25313A"/>
                </a:solidFill>
                <a:latin typeface="Aptos"/>
              </a:rPr>
              <a:t>文字與影像理解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432304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359152"/>
            <a:ext cx="4069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20" b="0">
                <a:solidFill>
                  <a:srgbClr val="25313A"/>
                </a:solidFill>
                <a:latin typeface="Aptos"/>
              </a:rPr>
              <a:t>Function calling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96265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889504"/>
            <a:ext cx="4069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20" b="0">
                <a:solidFill>
                  <a:srgbClr val="25313A"/>
                </a:solidFill>
                <a:latin typeface="Aptos"/>
              </a:rPr>
              <a:t>System prompt support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3493008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3419856"/>
            <a:ext cx="4069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20" b="0">
                <a:solidFill>
                  <a:srgbClr val="25313A"/>
                </a:solidFill>
                <a:latin typeface="Aptos"/>
              </a:rPr>
              <a:t>Thinking modes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892040"/>
            <a:ext cx="40690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084064"/>
            <a:ext cx="35661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60" b="1">
                <a:solidFill>
                  <a:srgbClr val="64727D"/>
                </a:solidFill>
                <a:latin typeface="Aptos"/>
              </a:rPr>
              <a:t>低 VRAM 可試 E4B，但需要更明確的提示與任務拆解。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量化與 VRAM 取捨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先讓模型穩定跑起來，再追求品質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600200"/>
            <a:ext cx="2057400" cy="6583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600200"/>
            <a:ext cx="2286000" cy="658368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06440" y="1600200"/>
            <a:ext cx="4480560" cy="658368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37943"/>
            <a:ext cx="15544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Q4_K_M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1837943"/>
            <a:ext cx="16916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313A"/>
                </a:solidFill>
                <a:latin typeface="Aptos"/>
              </a:rPr>
              <a:t>18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837943"/>
            <a:ext cx="37947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60" b="0">
                <a:solidFill>
                  <a:srgbClr val="64727D"/>
                </a:solidFill>
                <a:latin typeface="Aptos"/>
              </a:rPr>
              <a:t>Good balance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743200"/>
            <a:ext cx="2057400" cy="658368"/>
          </a:xfrm>
          <a:prstGeom prst="roundRect">
            <a:avLst/>
          </a:prstGeom>
          <a:solidFill>
            <a:srgbClr val="3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2743200"/>
            <a:ext cx="2286000" cy="658368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06440" y="2743200"/>
            <a:ext cx="4480560" cy="658368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80944"/>
            <a:ext cx="15544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Q6_K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980944"/>
            <a:ext cx="16916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313A"/>
                </a:solidFill>
                <a:latin typeface="Aptos"/>
              </a:rPr>
              <a:t>24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980944"/>
            <a:ext cx="37947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60" b="0">
                <a:solidFill>
                  <a:srgbClr val="64727D"/>
                </a:solidFill>
                <a:latin typeface="Aptos"/>
              </a:rPr>
              <a:t>Higher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886200"/>
            <a:ext cx="2057400" cy="658368"/>
          </a:xfrm>
          <a:prstGeom prst="roundRect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46120" y="3886200"/>
            <a:ext cx="2286000" cy="658368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06440" y="3886200"/>
            <a:ext cx="4480560" cy="658368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123944"/>
            <a:ext cx="15544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Q8_0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4123944"/>
            <a:ext cx="16916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313A"/>
                </a:solidFill>
                <a:latin typeface="Aptos"/>
              </a:rPr>
              <a:t>28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123944"/>
            <a:ext cx="37947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60" b="0">
                <a:solidFill>
                  <a:srgbClr val="64727D"/>
                </a:solidFill>
                <a:latin typeface="Aptos"/>
              </a:rPr>
              <a:t>Near-original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5257800"/>
            <a:ext cx="9326880" cy="566928"/>
          </a:xfrm>
          <a:prstGeom prst="roundRect">
            <a:avLst/>
          </a:prstGeom>
          <a:solidFill>
            <a:srgbClr val="2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5468112"/>
            <a:ext cx="86868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F7F3EA"/>
                </a:solidFill>
                <a:latin typeface="Aptos"/>
              </a:rPr>
              <a:t>推薦起點：Q4_K_M。若還有 VRAM，再往 Q6_K 或 Q8_0 測試。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啟動 LM Studio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把本機模型變成 OpenAI-compatible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240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121408"/>
            <a:ext cx="384048" cy="384048"/>
          </a:xfrm>
          <a:prstGeom prst="ellipse">
            <a:avLst/>
          </a:prstGeom>
          <a:solidFill>
            <a:srgbClr val="3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240280"/>
            <a:ext cx="16459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8892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25313A"/>
                </a:solidFill>
                <a:latin typeface="Aptos"/>
              </a:rPr>
              <a:t>Developer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364992"/>
            <a:ext cx="16002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64727D"/>
                </a:solidFill>
                <a:latin typeface="Aptos"/>
              </a:rPr>
              <a:t>進入 LM Studio 的 Developer 頁籤。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999232"/>
            <a:ext cx="548640" cy="0"/>
          </a:xfrm>
          <a:prstGeom prst="line">
            <a:avLst/>
          </a:prstGeom>
          <a:ln w="2286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1828800"/>
            <a:ext cx="2240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0480" y="2121408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240280"/>
            <a:ext cx="16459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78892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25313A"/>
                </a:solidFill>
                <a:latin typeface="Aptos"/>
              </a:rPr>
              <a:t>Select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364992"/>
            <a:ext cx="16002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64727D"/>
                </a:solidFill>
                <a:latin typeface="Aptos"/>
              </a:rPr>
              <a:t>選擇已下載的 Gemma 4 GGUF。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2999232"/>
            <a:ext cx="548639" cy="0"/>
          </a:xfrm>
          <a:prstGeom prst="line">
            <a:avLst/>
          </a:prstGeom>
          <a:ln w="2286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55079" y="1828800"/>
            <a:ext cx="2240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399" y="2121408"/>
            <a:ext cx="384048" cy="384048"/>
          </a:xfrm>
          <a:prstGeom prst="ellipse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7" y="2240280"/>
            <a:ext cx="16459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78892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25313A"/>
                </a:solidFill>
                <a:latin typeface="Aptos"/>
              </a:rPr>
              <a:t>Start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364992"/>
            <a:ext cx="16002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64727D"/>
                </a:solidFill>
                <a:latin typeface="Aptos"/>
              </a:rPr>
              <a:t>啟動預設 localhost:1234 server。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95359" y="2999232"/>
            <a:ext cx="548641" cy="0"/>
          </a:xfrm>
          <a:prstGeom prst="line">
            <a:avLst/>
          </a:prstGeom>
          <a:ln w="2286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3999" y="1828800"/>
            <a:ext cx="2240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121408"/>
            <a:ext cx="384048" cy="384048"/>
          </a:xfrm>
          <a:prstGeom prst="ellipse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7" y="2240280"/>
            <a:ext cx="16459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7" y="278892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25313A"/>
                </a:solidFill>
                <a:latin typeface="Aptos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7" y="3364992"/>
            <a:ext cx="16002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64727D"/>
                </a:solidFill>
                <a:latin typeface="Aptos"/>
              </a:rPr>
              <a:t>curl http://localhost:1234/v1/models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Context Size 與 GPU Offload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最大 context 不一定是最佳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298448"/>
            <a:ext cx="1371600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98448"/>
            <a:ext cx="4663440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3800" y="1298448"/>
            <a:ext cx="1874519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81328"/>
            <a:ext cx="91440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5313A"/>
                </a:solidFill>
                <a:latin typeface="Aptos"/>
              </a:rPr>
              <a:t>16K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81328"/>
            <a:ext cx="402336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30" b="0">
                <a:solidFill>
                  <a:srgbClr val="25313A"/>
                </a:solidFill>
                <a:latin typeface="Aptos"/>
              </a:rPr>
              <a:t>小修改、單檔任務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481328"/>
            <a:ext cx="128016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30" b="1">
                <a:solidFill>
                  <a:srgbClr val="64727D"/>
                </a:solidFill>
                <a:latin typeface="Aptos"/>
              </a:rPr>
              <a:t>~1 GB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1371600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60320" y="2011680"/>
            <a:ext cx="4663440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2011680"/>
            <a:ext cx="1874519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194560"/>
            <a:ext cx="91440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5313A"/>
                </a:solidFill>
                <a:latin typeface="Aptos"/>
              </a:rPr>
              <a:t>64K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194560"/>
            <a:ext cx="402336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30" b="0">
                <a:solidFill>
                  <a:srgbClr val="25313A"/>
                </a:solidFill>
                <a:latin typeface="Aptos"/>
              </a:rPr>
              <a:t>一般 coding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194560"/>
            <a:ext cx="128016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30" b="1">
                <a:solidFill>
                  <a:srgbClr val="64727D"/>
                </a:solidFill>
                <a:latin typeface="Aptos"/>
              </a:rPr>
              <a:t>~4 GB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724912"/>
            <a:ext cx="1371600" cy="493776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2724912"/>
            <a:ext cx="4663440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3800" y="2724912"/>
            <a:ext cx="1874519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2907792"/>
            <a:ext cx="91440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128K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07792"/>
            <a:ext cx="402336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30" b="0">
                <a:solidFill>
                  <a:srgbClr val="25313A"/>
                </a:solidFill>
                <a:latin typeface="Aptos"/>
              </a:rPr>
              <a:t>多檔重構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907792"/>
            <a:ext cx="128016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30" b="1">
                <a:solidFill>
                  <a:srgbClr val="64727D"/>
                </a:solidFill>
                <a:latin typeface="Aptos"/>
              </a:rPr>
              <a:t>~8 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438144"/>
            <a:ext cx="1371600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60320" y="3438144"/>
            <a:ext cx="4663440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43800" y="3438144"/>
            <a:ext cx="1874519" cy="493776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3621024"/>
            <a:ext cx="91440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5313A"/>
                </a:solidFill>
                <a:latin typeface="Aptos"/>
              </a:rPr>
              <a:t>256K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621024"/>
            <a:ext cx="402336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30" b="0">
                <a:solidFill>
                  <a:srgbClr val="25313A"/>
                </a:solidFill>
                <a:latin typeface="Aptos"/>
              </a:rPr>
              <a:t>完整 repo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621024"/>
            <a:ext cx="128016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30" b="1">
                <a:solidFill>
                  <a:srgbClr val="64727D"/>
                </a:solidFill>
                <a:latin typeface="Aptos"/>
              </a:rPr>
              <a:t>~16 GB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4828032"/>
            <a:ext cx="4617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8720" y="5074920"/>
            <a:ext cx="237744" cy="237744"/>
          </a:xfrm>
          <a:prstGeom prst="ellipse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065776"/>
            <a:ext cx="3474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80" b="1">
                <a:solidFill>
                  <a:srgbClr val="25313A"/>
                </a:solidFill>
                <a:latin typeface="Aptos"/>
              </a:rPr>
              <a:t>實務建議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504688"/>
            <a:ext cx="41605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9" b="0">
                <a:solidFill>
                  <a:srgbClr val="64727D"/>
                </a:solidFill>
                <a:latin typeface="Aptos"/>
              </a:rPr>
              <a:t>作者偏好 128K：coding agent 會累積檔案、工具輸出與對話歷史；若 OOM，先降低 context size。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828032"/>
            <a:ext cx="4617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0" y="5074920"/>
            <a:ext cx="237744" cy="237744"/>
          </a:xfrm>
          <a:prstGeom prst="ellipse">
            <a:avLst/>
          </a:prstGeom>
          <a:solidFill>
            <a:srgbClr val="3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5065776"/>
            <a:ext cx="3474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80" b="1">
                <a:solidFill>
                  <a:srgbClr val="25313A"/>
                </a:solidFill>
                <a:latin typeface="Aptos"/>
              </a:rPr>
              <a:t>GPU Offload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504688"/>
            <a:ext cx="41605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9" b="0">
                <a:solidFill>
                  <a:srgbClr val="64727D"/>
                </a:solidFill>
                <a:latin typeface="Aptos"/>
              </a:rPr>
              <a:t>GPU layers 越多越快，但需要更多 VRAM；放不下時會分到 CPU，仍可用但較慢。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安裝與理解 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39B7A5"/>
                </a:solidFill>
                <a:latin typeface="Aptos"/>
              </a:rPr>
              <a:t>小而清楚的 terminal coding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F7F3EA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46177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029968"/>
            <a:ext cx="3977639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25313A"/>
                </a:solidFill>
                <a:latin typeface="Aptos"/>
              </a:rPr>
              <a:t>npm install -g @mariozechner/pi-coding-agent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794760"/>
            <a:ext cx="1920240" cy="749808"/>
          </a:xfrm>
          <a:prstGeom prst="roundRect">
            <a:avLst/>
          </a:prstGeom>
          <a:solidFill>
            <a:srgbClr val="3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4005072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Aptos"/>
              </a:rP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4023360"/>
            <a:ext cx="5486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讀檔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794760"/>
            <a:ext cx="1920240" cy="74980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4005072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Aptos"/>
              </a:rPr>
              <a:t>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23360"/>
            <a:ext cx="5486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寫檔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1920240" cy="749808"/>
          </a:xfrm>
          <a:prstGeom prst="roundRect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4005072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Aptos"/>
              </a:rPr>
              <a:t>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023360"/>
            <a:ext cx="5486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修改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794760"/>
            <a:ext cx="1920240" cy="749808"/>
          </a:xfrm>
          <a:prstGeom prst="round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2832" y="4005072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Aptos"/>
              </a:rPr>
              <a:t>bash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023360"/>
            <a:ext cx="5486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執行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394960"/>
            <a:ext cx="9875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20" b="1">
                <a:solidFill>
                  <a:srgbClr val="F7F3EA"/>
                </a:solidFill>
                <a:latin typeface="Aptos"/>
              </a:rPr>
              <a:t>Pi 的核心刻意小：少工具、少 system prompt、少 token 成本，適合本機模型做 context engineering。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把 Pi 連到本機模型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models.json 指向 LM Studio 的 localhost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5120640" cy="4480560"/>
          </a:xfrm>
          <a:prstGeom prst="roundRect">
            <a:avLst/>
          </a:prstGeom>
          <a:solidFill>
            <a:srgbClr val="2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448056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19" b="0">
                <a:solidFill>
                  <a:srgbClr val="B6E35D"/>
                </a:solidFill>
                <a:latin typeface="Consolas"/>
              </a:rPr>
              <a:t>{
  "providers": {
    "lmstudio": {
      "baseUrl": "http://localhost:1234/v1",
      "api": "openai-completions",
      "apiKey": "lm-studio"
    }
  }
}</a:t>
            </a:r>
          </a:p>
        </p:txBody>
      </p:sp>
      <p:sp>
        <p:nvSpPr>
          <p:cNvPr id="7" name="Oval 6"/>
          <p:cNvSpPr/>
          <p:nvPr/>
        </p:nvSpPr>
        <p:spPr>
          <a:xfrm>
            <a:off x="6537960" y="190195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828800"/>
            <a:ext cx="4160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25313A"/>
                </a:solidFill>
                <a:latin typeface="Aptos"/>
              </a:rPr>
              <a:t>檔案位置：~/.pi/agent/models.json</a:t>
            </a:r>
          </a:p>
        </p:txBody>
      </p:sp>
      <p:sp>
        <p:nvSpPr>
          <p:cNvPr id="9" name="Oval 8"/>
          <p:cNvSpPr/>
          <p:nvPr/>
        </p:nvSpPr>
        <p:spPr>
          <a:xfrm>
            <a:off x="6537960" y="246888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2395728"/>
            <a:ext cx="4160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25313A"/>
                </a:solidFill>
                <a:latin typeface="Aptos"/>
              </a:rPr>
              <a:t>model id 必須符合 LM Studio server tab</a:t>
            </a:r>
          </a:p>
        </p:txBody>
      </p:sp>
      <p:sp>
        <p:nvSpPr>
          <p:cNvPr id="11" name="Oval 10"/>
          <p:cNvSpPr/>
          <p:nvPr/>
        </p:nvSpPr>
        <p:spPr>
          <a:xfrm>
            <a:off x="6537960" y="3035808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962656"/>
            <a:ext cx="4160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25313A"/>
                </a:solidFill>
                <a:latin typeface="Aptos"/>
              </a:rPr>
              <a:t>啟動 pi 後用 /model 切換到本機模型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360273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3529584"/>
            <a:ext cx="4160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25313A"/>
                </a:solidFill>
                <a:latin typeface="Aptos"/>
              </a:rPr>
              <a:t>設定完成後 agent 全程走 localhost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Skills 與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讓輕量 agent 取得專案能力與安全控制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4846320" cy="3429000"/>
          </a:xfrm>
          <a:prstGeom prst="roundRect">
            <a:avLst/>
          </a:prstGeom>
          <a:solidFill>
            <a:srgbClr val="EEF4F2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6520" y="1645920"/>
            <a:ext cx="4846320" cy="3429000"/>
          </a:xfrm>
          <a:prstGeom prst="roundRect">
            <a:avLst/>
          </a:prstGeom>
          <a:solidFill>
            <a:srgbClr val="2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2E8B57"/>
                </a:solidFill>
                <a:latin typeface="Aptos"/>
              </a:rPr>
              <a:t>Skills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281635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2743200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40" b="0">
                <a:solidFill>
                  <a:srgbClr val="25313A"/>
                </a:solidFill>
                <a:latin typeface="Aptos"/>
              </a:rPr>
              <a:t>Markdown capability packages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3310128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3236976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40" b="0">
                <a:solidFill>
                  <a:srgbClr val="25313A"/>
                </a:solidFill>
                <a:latin typeface="Aptos"/>
              </a:rPr>
              <a:t>可安裝 user-level 或 project-level</a:t>
            </a:r>
          </a:p>
        </p:txBody>
      </p:sp>
      <p:sp>
        <p:nvSpPr>
          <p:cNvPr id="12" name="Oval 11"/>
          <p:cNvSpPr/>
          <p:nvPr/>
        </p:nvSpPr>
        <p:spPr>
          <a:xfrm>
            <a:off x="1234440" y="3803904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730752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40" b="0">
                <a:solidFill>
                  <a:srgbClr val="25313A"/>
                </a:solidFill>
                <a:latin typeface="Aptos"/>
              </a:rPr>
              <a:t>適合流程、規範、文件解析與簡報生成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57400"/>
            <a:ext cx="1645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F29E4C"/>
                </a:solidFill>
                <a:latin typeface="Aptos"/>
              </a:rPr>
              <a:t>Extensions</a:t>
            </a:r>
          </a:p>
        </p:txBody>
      </p:sp>
      <p:sp>
        <p:nvSpPr>
          <p:cNvPr id="15" name="Oval 14"/>
          <p:cNvSpPr/>
          <p:nvPr/>
        </p:nvSpPr>
        <p:spPr>
          <a:xfrm>
            <a:off x="6812280" y="281635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2743200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40" b="0">
                <a:solidFill>
                  <a:srgbClr val="F7F3EA"/>
                </a:solidFill>
                <a:latin typeface="Aptos"/>
              </a:rPr>
              <a:t>TypeScript modules</a:t>
            </a:r>
          </a:p>
        </p:txBody>
      </p:sp>
      <p:sp>
        <p:nvSpPr>
          <p:cNvPr id="17" name="Oval 16"/>
          <p:cNvSpPr/>
          <p:nvPr/>
        </p:nvSpPr>
        <p:spPr>
          <a:xfrm>
            <a:off x="6812280" y="3310128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3236976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40" b="0">
                <a:solidFill>
                  <a:srgbClr val="F7F3EA"/>
                </a:solidFill>
                <a:latin typeface="Aptos"/>
              </a:rPr>
              <a:t>可加入工具、命令、UI、permission gates</a:t>
            </a:r>
          </a:p>
        </p:txBody>
      </p:sp>
      <p:sp>
        <p:nvSpPr>
          <p:cNvPr id="19" name="Oval 18"/>
          <p:cNvSpPr/>
          <p:nvPr/>
        </p:nvSpPr>
        <p:spPr>
          <a:xfrm>
            <a:off x="6812280" y="3803904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3730752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40" b="0">
                <a:solidFill>
                  <a:srgbClr val="F7F3EA"/>
                </a:solidFill>
                <a:latin typeface="Aptos"/>
              </a:rPr>
              <a:t>適合更深的 agent 行為客製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安全與治理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本機執行降低資料外流，但放大 shell 風險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911095"/>
            <a:ext cx="237744" cy="237744"/>
          </a:xfrm>
          <a:prstGeom prst="ellipse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90195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YOLO Bash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50008"/>
            <a:ext cx="269748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Pi 預設會快速執行 bash；效率高，也可能執行錯誤或破壞性命令。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9164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1911095"/>
            <a:ext cx="237744" cy="237744"/>
          </a:xfrm>
          <a:prstGeom prst="ellipse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90195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Permission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50008"/>
            <a:ext cx="269748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對高風險操作加確認步驟，避免模型自行越權。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41080" y="1911095"/>
            <a:ext cx="237744" cy="237744"/>
          </a:xfrm>
          <a:prstGeom prst="ellipse">
            <a:avLst/>
          </a:prstGeom>
          <a:solidFill>
            <a:srgbClr val="3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0195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350008"/>
            <a:ext cx="269748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需要更強隔離時，把命令放進 container 或受控環境。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709160"/>
            <a:ext cx="9921240" cy="713232"/>
          </a:xfrm>
          <a:prstGeom prst="roundRect">
            <a:avLst/>
          </a:prstGeom>
          <a:solidFill>
            <a:srgbClr val="20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965192"/>
            <a:ext cx="923544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10" b="1">
                <a:solidFill>
                  <a:srgbClr val="F7F3EA"/>
                </a:solidFill>
                <a:latin typeface="Aptos"/>
              </a:rPr>
              <a:t>原則：模型可以在本機跑，但工具權限仍要最小化、可審查、可中止。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上手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39B7A5"/>
                </a:solidFill>
                <a:latin typeface="Aptos"/>
              </a:rPr>
              <a:t>先跑通最小閉環，再加入能力與保護層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F7F3EA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480060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" y="1709928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1828800"/>
            <a:ext cx="16459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92224"/>
            <a:ext cx="36118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25313A"/>
                </a:solidFill>
                <a:latin typeface="Aptos"/>
              </a:rPr>
              <a:t>安裝 LM Studio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480060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47688" y="1709928"/>
            <a:ext cx="347472" cy="347472"/>
          </a:xfrm>
          <a:prstGeom prst="ellipse">
            <a:avLst/>
          </a:prstGeom>
          <a:solidFill>
            <a:srgbClr val="3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9984" y="1828800"/>
            <a:ext cx="16459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792224"/>
            <a:ext cx="36118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25313A"/>
                </a:solidFill>
                <a:latin typeface="Aptos"/>
              </a:rPr>
              <a:t>下載 Gemma 4 26B A4B Q4_K_M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770632"/>
            <a:ext cx="480060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1288" y="2971800"/>
            <a:ext cx="347472" cy="347472"/>
          </a:xfrm>
          <a:prstGeom prst="ellipse">
            <a:avLst/>
          </a:prstGeom>
          <a:solidFill>
            <a:srgbClr val="F2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3090672"/>
            <a:ext cx="16459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54096"/>
            <a:ext cx="36118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25313A"/>
                </a:solidFill>
                <a:latin typeface="Aptos"/>
              </a:rPr>
              <a:t>Start Server 並 curl /v1/models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770632"/>
            <a:ext cx="480060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47688" y="2971800"/>
            <a:ext cx="347472" cy="347472"/>
          </a:xfrm>
          <a:prstGeom prst="ellipse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3090672"/>
            <a:ext cx="16459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054096"/>
            <a:ext cx="36118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25313A"/>
                </a:solidFill>
                <a:latin typeface="Aptos"/>
              </a:rPr>
              <a:t>調 context size 與 GPU offload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032504"/>
            <a:ext cx="480060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1288" y="4233672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584" y="4352544"/>
            <a:ext cx="16459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315968"/>
            <a:ext cx="36118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25313A"/>
                </a:solidFill>
                <a:latin typeface="Aptos"/>
              </a:rPr>
              <a:t>安裝 Pi 並設定 models.json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32504"/>
            <a:ext cx="480060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47688" y="4233672"/>
            <a:ext cx="347472" cy="347472"/>
          </a:xfrm>
          <a:prstGeom prst="ellipse">
            <a:avLst/>
          </a:prstGeom>
          <a:solidFill>
            <a:srgbClr val="3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4352544"/>
            <a:ext cx="164592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315968"/>
            <a:ext cx="36118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25313A"/>
                </a:solidFill>
                <a:latin typeface="Aptos"/>
              </a:rPr>
              <a:t>加入 skills、extensions、permission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715000"/>
            <a:ext cx="10149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6E35D"/>
                </a:solidFill>
                <a:latin typeface="Aptos"/>
              </a:rPr>
              <a:t>完成後，你就有一個模型、資料與工具鏈都在自己機器上的 coding agent workflow。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Patrick Loeber｜2026-04-27｜patloeber.com/gemma-4-pi-agent/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
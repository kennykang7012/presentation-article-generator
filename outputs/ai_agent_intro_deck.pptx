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914400"/>
            <a:ext cx="256032" cy="256032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417320"/>
            <a:ext cx="182880" cy="18288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2788920"/>
            <a:ext cx="329184" cy="3291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87000" y="3886200"/>
            <a:ext cx="219456" cy="21945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2360" y="4434840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00416" y="1042415"/>
            <a:ext cx="2066544" cy="466345"/>
          </a:xfrm>
          <a:prstGeom prst="line">
            <a:avLst/>
          </a:prstGeom>
          <a:ln w="1270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988552" y="1508760"/>
            <a:ext cx="978408" cy="1444752"/>
          </a:xfrm>
          <a:prstGeom prst="line">
            <a:avLst/>
          </a:prstGeom>
          <a:ln w="1270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88552" y="2953512"/>
            <a:ext cx="1408176" cy="1042416"/>
          </a:xfrm>
          <a:prstGeom prst="line">
            <a:avLst/>
          </a:prstGeom>
          <a:ln w="1270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534656" y="2953512"/>
            <a:ext cx="1453896" cy="1563624"/>
          </a:xfrm>
          <a:prstGeom prst="line">
            <a:avLst/>
          </a:prstGeom>
          <a:ln w="1270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00416" y="1042415"/>
            <a:ext cx="1088136" cy="1911097"/>
          </a:xfrm>
          <a:prstGeom prst="line">
            <a:avLst/>
          </a:prstGeom>
          <a:ln w="1270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1188720"/>
            <a:ext cx="6309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Display"/>
              </a:rPr>
              <a:t>AI Agent 入門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93392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F7F3EA"/>
                </a:solidFill>
                <a:latin typeface="Aptos"/>
              </a:rPr>
              <a:t>從核心原理、開發框架到負責任導入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4160520" cy="91440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63240"/>
            <a:ext cx="3611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能感知、會規劃、可行動、懂記憶的 AI 系統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108192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F7F3EA"/>
                </a:solidFill>
                <a:latin typeface="Aptos"/>
              </a:rPr>
              <a:t>整理自 vocus 文章｜2025/02/24 發佈，2025/08/13 更新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為什麼現在談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從生成內容，走向自主完成任務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971800" cy="329184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29968"/>
            <a:ext cx="23774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300" b="1">
                <a:solidFill>
                  <a:srgbClr val="F2C14E"/>
                </a:solidFill>
                <a:latin typeface="Aptos Display"/>
              </a:rPr>
              <a:t>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788920"/>
            <a:ext cx="22402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文章引用市場觀點，認為這段期間將是 AI 代理廣泛應用的重要窗口。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087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1728216"/>
            <a:ext cx="256032" cy="25603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09928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25313A"/>
                </a:solidFill>
                <a:latin typeface="Aptos"/>
              </a:rPr>
              <a:t>效率提升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03704"/>
            <a:ext cx="1874519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64727D"/>
                </a:solidFill>
                <a:latin typeface="Aptos"/>
              </a:rPr>
              <a:t>協助處理大量、重複、可拆解的工作。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5087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85432" y="1728216"/>
            <a:ext cx="256032" cy="256032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709928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25313A"/>
                </a:solidFill>
                <a:latin typeface="Aptos"/>
              </a:rPr>
              <a:t>工作重組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2203704"/>
            <a:ext cx="1874519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64727D"/>
                </a:solidFill>
                <a:latin typeface="Aptos"/>
              </a:rPr>
              <a:t>讓人更專注於創造性與策略性思考。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4" y="15087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7464" y="1728216"/>
            <a:ext cx="256032" cy="25603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3224" y="1709928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25313A"/>
                </a:solidFill>
                <a:latin typeface="Aptos"/>
              </a:rPr>
              <a:t>自主執行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2203704"/>
            <a:ext cx="1874519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80" b="0">
                <a:solidFill>
                  <a:srgbClr val="64727D"/>
                </a:solidFill>
                <a:latin typeface="Aptos"/>
              </a:rPr>
              <a:t>從被動回答，轉為依目標規劃與行動。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4069080"/>
            <a:ext cx="6446520" cy="0"/>
          </a:xfrm>
          <a:prstGeom prst="line">
            <a:avLst/>
          </a:prstGeom>
          <a:ln w="254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187952" y="3959352"/>
            <a:ext cx="219456" cy="21945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4370832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5313A"/>
                </a:solidFill>
                <a:latin typeface="Aptos"/>
              </a:rPr>
              <a:t>工具</a:t>
            </a:r>
          </a:p>
        </p:txBody>
      </p:sp>
      <p:sp>
        <p:nvSpPr>
          <p:cNvPr id="23" name="Oval 22"/>
          <p:cNvSpPr/>
          <p:nvPr/>
        </p:nvSpPr>
        <p:spPr>
          <a:xfrm>
            <a:off x="6245352" y="3959352"/>
            <a:ext cx="219456" cy="21945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370832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5313A"/>
                </a:solidFill>
                <a:latin typeface="Aptos"/>
              </a:rPr>
              <a:t>流程</a:t>
            </a:r>
          </a:p>
        </p:txBody>
      </p:sp>
      <p:sp>
        <p:nvSpPr>
          <p:cNvPr id="25" name="Oval 24"/>
          <p:cNvSpPr/>
          <p:nvPr/>
        </p:nvSpPr>
        <p:spPr>
          <a:xfrm>
            <a:off x="8302752" y="3959352"/>
            <a:ext cx="219456" cy="21945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370832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5313A"/>
                </a:solidFill>
                <a:latin typeface="Aptos"/>
              </a:rPr>
              <a:t>治理</a:t>
            </a:r>
          </a:p>
        </p:txBody>
      </p:sp>
      <p:sp>
        <p:nvSpPr>
          <p:cNvPr id="27" name="Oval 26"/>
          <p:cNvSpPr/>
          <p:nvPr/>
        </p:nvSpPr>
        <p:spPr>
          <a:xfrm>
            <a:off x="10360152" y="3959352"/>
            <a:ext cx="219456" cy="21945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4370832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5313A"/>
                </a:solidFill>
                <a:latin typeface="Aptos"/>
              </a:rPr>
              <a:t>價值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AI Agent 是什麼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不是只回覆指令，而是能閉環完成任務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663440" cy="4206240"/>
          </a:xfrm>
          <a:prstGeom prst="roundRect">
            <a:avLst/>
          </a:prstGeom>
          <a:solidFill>
            <a:srgbClr val="E8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83080"/>
            <a:ext cx="1828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一般 AI 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331720"/>
            <a:ext cx="356616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64727D"/>
                </a:solidFill>
                <a:latin typeface="Aptos"/>
              </a:rPr>
              <a:t>被動接收問題
產生內容或答案
需要人持續拆解步驟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3547872"/>
            <a:ext cx="1645920" cy="0"/>
          </a:xfrm>
          <a:prstGeom prst="line">
            <a:avLst/>
          </a:prstGeom>
          <a:ln w="5080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47488" y="3182112"/>
            <a:ext cx="868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85D4F"/>
                </a:solidFill>
                <a:latin typeface="Aptos"/>
              </a:rPr>
              <a:t>升級為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17320"/>
            <a:ext cx="4663440" cy="420624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83080"/>
            <a:ext cx="1828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331720"/>
            <a:ext cx="3566160" cy="1417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F7F3EA"/>
                </a:solidFill>
                <a:latin typeface="Aptos"/>
              </a:rPr>
              <a:t>感知環境
自主規劃
調用工具行動
透過記憶改善表現</a:t>
            </a:r>
          </a:p>
        </p:txBody>
      </p:sp>
      <p:sp>
        <p:nvSpPr>
          <p:cNvPr id="13" name="Oval 12"/>
          <p:cNvSpPr/>
          <p:nvPr/>
        </p:nvSpPr>
        <p:spPr>
          <a:xfrm>
            <a:off x="10149840" y="4069080"/>
            <a:ext cx="502920" cy="502920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76688" y="4233672"/>
            <a:ext cx="65836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四大核心能力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Agent 行為能力的最小集合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800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737360"/>
            <a:ext cx="658368" cy="658368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728216"/>
            <a:ext cx="3383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5313A"/>
                </a:solidFill>
                <a:latin typeface="Aptos"/>
              </a:rPr>
              <a:t>Autonomous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221992"/>
            <a:ext cx="3154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64727D"/>
                </a:solidFill>
                <a:latin typeface="Aptos"/>
              </a:rPr>
              <a:t>自主決策，降低人工逐步介入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4800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1737360"/>
            <a:ext cx="658368" cy="658368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74519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728216"/>
            <a:ext cx="3383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5313A"/>
                </a:solidFill>
                <a:latin typeface="Aptos"/>
              </a:rPr>
              <a:t>Perception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221992"/>
            <a:ext cx="3154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64727D"/>
                </a:solidFill>
                <a:latin typeface="Aptos"/>
              </a:rPr>
              <a:t>理解文字、圖像、聲音或系統狀態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49039"/>
            <a:ext cx="4800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4069079"/>
            <a:ext cx="658368" cy="658368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206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4059935"/>
            <a:ext cx="3383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5313A"/>
                </a:solidFill>
                <a:latin typeface="Aptos"/>
              </a:rPr>
              <a:t>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4553712"/>
            <a:ext cx="3154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64727D"/>
                </a:solidFill>
                <a:latin typeface="Aptos"/>
              </a:rPr>
              <a:t>把目標拆成可執行步驟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4800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4069079"/>
            <a:ext cx="658368" cy="658368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206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4059935"/>
            <a:ext cx="3383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5313A"/>
                </a:solidFill>
                <a:latin typeface="Aptos"/>
              </a:rPr>
              <a:t>Self-Improving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4553712"/>
            <a:ext cx="3154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64727D"/>
                </a:solidFill>
                <a:latin typeface="Aptos"/>
              </a:rPr>
              <a:t>從互動、回饋與記憶中優化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核心架構迴路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Perception → Planning → Action →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43400" y="2286000"/>
            <a:ext cx="3246120" cy="0"/>
          </a:xfrm>
          <a:prstGeom prst="line">
            <a:avLst/>
          </a:prstGeom>
          <a:ln w="3048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69680" y="2743200"/>
            <a:ext cx="0" cy="1508760"/>
          </a:xfrm>
          <a:prstGeom prst="line">
            <a:avLst/>
          </a:prstGeom>
          <a:ln w="3048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343400" y="4937760"/>
            <a:ext cx="3246120" cy="0"/>
          </a:xfrm>
          <a:prstGeom prst="line">
            <a:avLst/>
          </a:prstGeom>
          <a:ln w="3048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08960" y="2743200"/>
            <a:ext cx="0" cy="1508760"/>
          </a:xfrm>
          <a:prstGeom prst="line">
            <a:avLst/>
          </a:prstGeom>
          <a:ln w="3048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3246120"/>
            <a:ext cx="9144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LLM
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600200"/>
            <a:ext cx="2514600" cy="91440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801368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Perception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30552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FFFFFF"/>
                </a:solidFill>
                <a:latin typeface="Aptos"/>
              </a:rPr>
              <a:t>接收環境資訊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600200"/>
            <a:ext cx="2514600" cy="914400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801368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2130552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FFFFFF"/>
                </a:solidFill>
                <a:latin typeface="Aptos"/>
              </a:rPr>
              <a:t>分析情境、拆解任務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51960"/>
            <a:ext cx="2514600" cy="914400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4453128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782312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FFFFFF"/>
                </a:solidFill>
                <a:latin typeface="Aptos"/>
              </a:rPr>
              <a:t>呼叫工具、完成行動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251960"/>
            <a:ext cx="2514600" cy="914400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4453128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4782312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FFFFFF"/>
                </a:solidFill>
                <a:latin typeface="Aptos"/>
              </a:rPr>
              <a:t>保存經驗與上下文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AI Agent 參考架構圖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參考截圖重新繪製：從環境輸入到行動回饋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9512" y="2953512"/>
            <a:ext cx="1920240" cy="1508760"/>
          </a:xfrm>
          <a:prstGeom prst="roundRect">
            <a:avLst/>
          </a:prstGeom>
          <a:solidFill>
            <a:srgbClr val="373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13831" y="3566160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66944" y="2313432"/>
            <a:ext cx="1874519" cy="42062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0096" y="2418405"/>
            <a:ext cx="172821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1. Perception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3474720"/>
            <a:ext cx="1664208" cy="420624"/>
          </a:xfrm>
          <a:prstGeom prst="roundRect">
            <a:avLst/>
          </a:prstGeom>
          <a:solidFill>
            <a:srgbClr val="5A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3579693"/>
            <a:ext cx="151790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2.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4690872"/>
            <a:ext cx="1874519" cy="420624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4795845"/>
            <a:ext cx="172821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3.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3474720"/>
            <a:ext cx="1664208" cy="420624"/>
          </a:xfrm>
          <a:prstGeom prst="roundRect">
            <a:avLst/>
          </a:prstGeom>
          <a:solidFill>
            <a:srgbClr val="00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4" y="3579693"/>
            <a:ext cx="151790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4. Memory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9631" y="2743200"/>
            <a:ext cx="0" cy="210312"/>
          </a:xfrm>
          <a:prstGeom prst="line">
            <a:avLst/>
          </a:prstGeom>
          <a:ln w="1905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83479" y="3685032"/>
            <a:ext cx="256033" cy="0"/>
          </a:xfrm>
          <a:prstGeom prst="line">
            <a:avLst/>
          </a:prstGeom>
          <a:ln w="1905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9752" y="3685032"/>
            <a:ext cx="365760" cy="0"/>
          </a:xfrm>
          <a:prstGeom prst="line">
            <a:avLst/>
          </a:prstGeom>
          <a:ln w="1905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99631" y="4462272"/>
            <a:ext cx="0" cy="228600"/>
          </a:xfrm>
          <a:prstGeom prst="line">
            <a:avLst/>
          </a:prstGeom>
          <a:ln w="1905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64992" y="1170432"/>
            <a:ext cx="1691640" cy="530352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317101"/>
            <a:ext cx="15453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25313A"/>
                </a:solidFill>
                <a:latin typeface="Aptos"/>
              </a:rPr>
              <a:t>感測器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6240" y="1700784"/>
            <a:ext cx="1993391" cy="612648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22392" y="1170432"/>
            <a:ext cx="1691640" cy="530352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1317101"/>
            <a:ext cx="15453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25313A"/>
                </a:solidFill>
                <a:latin typeface="Aptos"/>
              </a:rPr>
              <a:t>處理單元
GPU / CPU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199631" y="1700784"/>
            <a:ext cx="64009" cy="612648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16952" y="1170432"/>
            <a:ext cx="1691640" cy="530352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1317101"/>
            <a:ext cx="15453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25313A"/>
                </a:solidFill>
                <a:latin typeface="Aptos"/>
              </a:rPr>
              <a:t>多模態
Model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199631" y="1700784"/>
            <a:ext cx="2258569" cy="612648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90472" y="2249424"/>
            <a:ext cx="1828800" cy="530352"/>
          </a:xfrm>
          <a:prstGeom prst="roundRect">
            <a:avLst/>
          </a:prstGeom>
          <a:solidFill>
            <a:srgbClr val="DDD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63624" y="2396093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25313A"/>
                </a:solidFill>
                <a:latin typeface="Aptos"/>
              </a:rPr>
              <a:t>規劃演算法
Planning Algorithm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19272" y="2514600"/>
            <a:ext cx="0" cy="1170432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490472" y="3035808"/>
            <a:ext cx="1828800" cy="530352"/>
          </a:xfrm>
          <a:prstGeom prst="roundRect">
            <a:avLst/>
          </a:prstGeom>
          <a:solidFill>
            <a:srgbClr val="DDD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63624" y="3182477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25313A"/>
                </a:solidFill>
                <a:latin typeface="Aptos"/>
              </a:rPr>
              <a:t>大語言模型
LLM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9272" y="3300984"/>
            <a:ext cx="0" cy="384048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490472" y="3822191"/>
            <a:ext cx="1828800" cy="530352"/>
          </a:xfrm>
          <a:prstGeom prst="roundRect">
            <a:avLst/>
          </a:prstGeom>
          <a:solidFill>
            <a:srgbClr val="DDD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63624" y="3968861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25313A"/>
                </a:solidFill>
                <a:latin typeface="Aptos"/>
              </a:rPr>
              <a:t>知識圖譜
Knowledge Graph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3319272" y="3685032"/>
            <a:ext cx="0" cy="402336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490472" y="4608576"/>
            <a:ext cx="1828800" cy="530352"/>
          </a:xfrm>
          <a:prstGeom prst="roundRect">
            <a:avLst/>
          </a:prstGeom>
          <a:solidFill>
            <a:srgbClr val="DDD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63624" y="4755245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25313A"/>
                </a:solidFill>
                <a:latin typeface="Aptos"/>
              </a:rPr>
              <a:t>推理引擎
Inference Engine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3319272" y="3685032"/>
            <a:ext cx="0" cy="1188720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1832" y="2313432"/>
            <a:ext cx="411480" cy="201168"/>
          </a:xfrm>
          <a:prstGeom prst="roundRect">
            <a:avLst/>
          </a:prstGeom>
          <a:solidFill>
            <a:srgbClr val="DDD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2368296"/>
            <a:ext cx="33832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64727D"/>
                </a:solidFill>
                <a:latin typeface="Aptos"/>
              </a:rPr>
              <a:t>複雜任務分解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1832" y="4700016"/>
            <a:ext cx="411480" cy="201168"/>
          </a:xfrm>
          <a:prstGeom prst="roundRect">
            <a:avLst/>
          </a:prstGeom>
          <a:solidFill>
            <a:srgbClr val="DDD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4754879"/>
            <a:ext cx="33832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64727D"/>
                </a:solidFill>
                <a:latin typeface="Aptos"/>
              </a:rPr>
              <a:t>制定行動計劃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2912" y="2221991"/>
            <a:ext cx="1828800" cy="566928"/>
          </a:xfrm>
          <a:prstGeom prst="roundRect">
            <a:avLst/>
          </a:prstGeom>
          <a:solidFill>
            <a:srgbClr val="CD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56064" y="2382560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25313A"/>
                </a:solidFill>
                <a:latin typeface="Aptos"/>
              </a:rPr>
              <a:t>原始知識庫
KM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9189719" y="2505456"/>
            <a:ext cx="393193" cy="1179576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582912" y="3383280"/>
            <a:ext cx="1828800" cy="566928"/>
          </a:xfrm>
          <a:prstGeom prst="roundRect">
            <a:avLst/>
          </a:prstGeom>
          <a:solidFill>
            <a:srgbClr val="CD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56064" y="3543848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25313A"/>
                </a:solidFill>
                <a:latin typeface="Aptos"/>
              </a:rPr>
              <a:t>短期記憶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9189719" y="3666744"/>
            <a:ext cx="393193" cy="18288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582912" y="4370832"/>
            <a:ext cx="1828800" cy="566928"/>
          </a:xfrm>
          <a:prstGeom prst="roundRect">
            <a:avLst/>
          </a:prstGeom>
          <a:solidFill>
            <a:srgbClr val="CD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56064" y="4531400"/>
            <a:ext cx="1682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25313A"/>
                </a:solidFill>
                <a:latin typeface="Aptos"/>
              </a:rPr>
              <a:t>長期記憶</a:t>
            </a:r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9189719" y="3685032"/>
            <a:ext cx="393193" cy="969264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497312" y="3950208"/>
            <a:ext cx="0" cy="420624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725912" y="3950208"/>
            <a:ext cx="0" cy="420624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204704" y="4023360"/>
            <a:ext cx="25603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64727D"/>
                </a:solidFill>
                <a:latin typeface="Aptos"/>
              </a:rPr>
              <a:t>構成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53344" y="4023360"/>
            <a:ext cx="25603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64727D"/>
                </a:solidFill>
                <a:latin typeface="Aptos"/>
              </a:rPr>
              <a:t>讀取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64992" y="5614416"/>
            <a:ext cx="1783080" cy="566928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38144" y="5774984"/>
            <a:ext cx="163677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5313A"/>
                </a:solidFill>
                <a:latin typeface="Aptos"/>
              </a:rPr>
              <a:t>外部工具
Tools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4261104" y="5111496"/>
            <a:ext cx="1938527" cy="502920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364992" y="6291072"/>
            <a:ext cx="1783080" cy="201168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01568" y="6345936"/>
            <a:ext cx="170992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64727D"/>
                </a:solidFill>
                <a:latin typeface="Aptos"/>
              </a:rPr>
              <a:t>API整合、數據分析、時程控管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76672" y="5614416"/>
            <a:ext cx="1783080" cy="566928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9824" y="5774984"/>
            <a:ext cx="163677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5313A"/>
                </a:solidFill>
                <a:latin typeface="Aptos"/>
              </a:rPr>
              <a:t>外部服務</a:t>
            </a:r>
          </a:p>
        </p:txBody>
      </p:sp>
      <p:cxnSp>
        <p:nvCxnSpPr>
          <p:cNvPr id="64" name="Connector 63"/>
          <p:cNvCxnSpPr/>
          <p:nvPr/>
        </p:nvCxnSpPr>
        <p:spPr>
          <a:xfrm flipH="1" flipV="1">
            <a:off x="6199631" y="5111496"/>
            <a:ext cx="73152" cy="502920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376672" y="6291072"/>
            <a:ext cx="1783080" cy="201168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6345936"/>
            <a:ext cx="170992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64727D"/>
                </a:solidFill>
                <a:latin typeface="Aptos"/>
              </a:rPr>
              <a:t>SQL、Cloud Service、Search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34072" y="5614416"/>
            <a:ext cx="1783080" cy="566928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07224" y="5774984"/>
            <a:ext cx="163677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5313A"/>
                </a:solidFill>
                <a:latin typeface="Aptos"/>
              </a:rPr>
              <a:t>反饋與決策機制</a:t>
            </a:r>
          </a:p>
        </p:txBody>
      </p:sp>
      <p:cxnSp>
        <p:nvCxnSpPr>
          <p:cNvPr id="69" name="Connector 68"/>
          <p:cNvCxnSpPr/>
          <p:nvPr/>
        </p:nvCxnSpPr>
        <p:spPr>
          <a:xfrm flipH="1" flipV="1">
            <a:off x="6199631" y="5111496"/>
            <a:ext cx="2130552" cy="502920"/>
          </a:xfrm>
          <a:prstGeom prst="line">
            <a:avLst/>
          </a:prstGeom>
          <a:ln w="1270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434072" y="6291072"/>
            <a:ext cx="1783080" cy="201168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70648" y="6345936"/>
            <a:ext cx="170992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64727D"/>
                </a:solidFill>
                <a:latin typeface="Aptos"/>
              </a:rPr>
              <a:t>評估、回饋、下一輪規劃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感知與規劃：把世界轉成可執行任務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上半場決定 Agent 看見什麼、理解什麼、打算怎麼做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1828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5A623"/>
                </a:solidFill>
                <a:latin typeface="Aptos"/>
              </a:rPr>
              <a:t>1. Perception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38658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331720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25313A"/>
                </a:solidFill>
                <a:latin typeface="Aptos"/>
              </a:rPr>
              <a:t>輸入來源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31720"/>
            <a:ext cx="2240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64727D"/>
                </a:solidFill>
                <a:latin typeface="Aptos"/>
              </a:rPr>
              <a:t>感測器、文件、圖像、聲音、系統事件。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02666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971800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25313A"/>
                </a:solidFill>
                <a:latin typeface="Aptos"/>
              </a:rPr>
              <a:t>處理單元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71800"/>
            <a:ext cx="2240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64727D"/>
                </a:solidFill>
                <a:latin typeface="Aptos"/>
              </a:rPr>
              <a:t>CPU / GPU 負責資料處理與模型推論。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66674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11879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25313A"/>
                </a:solidFill>
                <a:latin typeface="Aptos"/>
              </a:rPr>
              <a:t>多模態模型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79"/>
            <a:ext cx="2240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64727D"/>
                </a:solidFill>
                <a:latin typeface="Aptos"/>
              </a:rPr>
              <a:t>把不同訊號轉成 Agent 可理解的狀態。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17320"/>
            <a:ext cx="5074920" cy="43434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755648"/>
            <a:ext cx="1828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39B7A5"/>
                </a:solidFill>
                <a:latin typeface="Aptos"/>
              </a:rPr>
              <a:t>2. Planning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238658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2331720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FFFFFF"/>
                </a:solidFill>
                <a:latin typeface="Aptos"/>
              </a:rPr>
              <a:t>任務分解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331720"/>
            <a:ext cx="2240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F7F3EA"/>
                </a:solidFill>
                <a:latin typeface="Aptos"/>
              </a:rPr>
              <a:t>規劃演算法把目標拆成子任務。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02666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2971800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FFFFFF"/>
                </a:solidFill>
                <a:latin typeface="Aptos"/>
              </a:rPr>
              <a:t>推理核心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971800"/>
            <a:ext cx="2240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F7F3EA"/>
                </a:solidFill>
                <a:latin typeface="Aptos"/>
              </a:rPr>
              <a:t>LLM、知識圖譜與推理引擎共同產生步驟。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366674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611879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FFFFFF"/>
                </a:solidFill>
                <a:latin typeface="Aptos"/>
              </a:rPr>
              <a:t>計劃輸出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611879"/>
            <a:ext cx="2240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F7F3EA"/>
                </a:solidFill>
                <a:latin typeface="Aptos"/>
              </a:rPr>
              <a:t>形成可呼叫工具、可驗證結果的行動方案。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49240" y="3520440"/>
            <a:ext cx="1097280" cy="0"/>
          </a:xfrm>
          <a:prstGeom prst="line">
            <a:avLst/>
          </a:prstGeom>
          <a:ln w="3810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68112" y="3154680"/>
            <a:ext cx="868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E85D4F"/>
                </a:solidFill>
                <a:latin typeface="Aptos"/>
              </a:rPr>
              <a:t>狀態 → 計劃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行動與記憶：讓 Agent 形成閉環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下半場決定 Agent 做了什麼，以及下一次是否更好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4434840"/>
          </a:xfrm>
          <a:prstGeom prst="roundRect">
            <a:avLst/>
          </a:prstGeom>
          <a:solidFill>
            <a:srgbClr val="F5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1463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3.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423160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80" b="0">
                <a:solidFill>
                  <a:srgbClr val="25313A"/>
                </a:solidFill>
                <a:latin typeface="Aptos"/>
              </a:rPr>
              <a:t>外部工具
API 整合、數據分析、時程控管
外部服務
SQL、雲端服務、搜尋服務
回饋機制
評估結果並觸發下一輪決策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2880360" cy="443484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2352" y="2971800"/>
            <a:ext cx="1783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AI Agent
執行閉環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417320"/>
            <a:ext cx="3429000" cy="4434840"/>
          </a:xfrm>
          <a:prstGeom prst="roundRect">
            <a:avLst/>
          </a:prstGeom>
          <a:solidFill>
            <a:srgbClr val="CD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1463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9B7A"/>
                </a:solidFill>
                <a:latin typeface="Aptos"/>
              </a:rPr>
              <a:t>4.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331720"/>
            <a:ext cx="2487168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80" b="0">
                <a:solidFill>
                  <a:srgbClr val="25313A"/>
                </a:solidFill>
                <a:latin typeface="Aptos"/>
              </a:rPr>
              <a:t>原始知識庫
企業資料、文件、規則
短期記憶
任務上下文與最近互動
長期記憶
可重用經驗、偏好與策略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3017520"/>
            <a:ext cx="502920" cy="0"/>
          </a:xfrm>
          <a:prstGeom prst="line">
            <a:avLst/>
          </a:prstGeom>
          <a:ln w="3048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52360" y="3017520"/>
            <a:ext cx="502919" cy="0"/>
          </a:xfrm>
          <a:prstGeom prst="line">
            <a:avLst/>
          </a:prstGeom>
          <a:ln w="30480">
            <a:solidFill>
              <a:srgbClr val="009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5440680"/>
            <a:ext cx="0" cy="54864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46120" y="6035040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7C83"/>
                </a:solidFill>
                <a:latin typeface="Aptos"/>
              </a:rPr>
              <a:t>治理重點：權限、審計、人工覆核、成本監控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案例：餐廳服務生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用日常場景理解抽象架構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2331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20240"/>
            <a:ext cx="594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487168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觀察顧客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7180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辨識一對約二、三十歲情侶，掌握情境。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4251960"/>
            <a:ext cx="1143000" cy="329184"/>
          </a:xfrm>
          <a:prstGeom prst="roundRect">
            <a:avLst/>
          </a:prstGeom>
          <a:solidFill>
            <a:srgbClr val="E8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352544"/>
            <a:ext cx="8686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30" b="1">
                <a:solidFill>
                  <a:srgbClr val="0B7C83"/>
                </a:solidFill>
                <a:latin typeface="Aptos"/>
              </a:rPr>
              <a:t>Perception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246120"/>
            <a:ext cx="41148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645920"/>
            <a:ext cx="2331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1920240"/>
            <a:ext cx="594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E85D4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487168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規劃推薦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97180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判斷適合餐點，計算如何推薦高單價組合。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4251960"/>
            <a:ext cx="1143000" cy="329184"/>
          </a:xfrm>
          <a:prstGeom prst="roundRect">
            <a:avLst/>
          </a:prstGeom>
          <a:solidFill>
            <a:srgbClr val="E8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4352544"/>
            <a:ext cx="8686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30" b="1">
                <a:solidFill>
                  <a:srgbClr val="0B7C83"/>
                </a:solidFill>
                <a:latin typeface="Aptos"/>
              </a:rPr>
              <a:t>Planning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79" y="3246120"/>
            <a:ext cx="411481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79" y="1645920"/>
            <a:ext cx="2331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920240"/>
            <a:ext cx="594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487168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採取行動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97180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翻開菜單，介紹情人套餐與餐點特色。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4251960"/>
            <a:ext cx="1143000" cy="329184"/>
          </a:xfrm>
          <a:prstGeom prst="roundRect">
            <a:avLst/>
          </a:prstGeom>
          <a:solidFill>
            <a:srgbClr val="E8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7" y="4352544"/>
            <a:ext cx="8686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30" b="1">
                <a:solidFill>
                  <a:srgbClr val="0B7C83"/>
                </a:solidFill>
                <a:latin typeface="Aptos"/>
              </a:rPr>
              <a:t>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0" y="3246120"/>
            <a:ext cx="41148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3999" y="1645920"/>
            <a:ext cx="2331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1" y="1920240"/>
            <a:ext cx="594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E85D4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1" y="2487168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運用記憶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1" y="297180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根據銷售經驗，詢問是否加點紅酒。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00031" y="4251960"/>
            <a:ext cx="1143000" cy="329184"/>
          </a:xfrm>
          <a:prstGeom prst="roundRect">
            <a:avLst/>
          </a:prstGeom>
          <a:solidFill>
            <a:srgbClr val="E8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8047" y="4352544"/>
            <a:ext cx="8686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30" b="1">
                <a:solidFill>
                  <a:srgbClr val="0B7C83"/>
                </a:solidFill>
                <a:latin typeface="Aptos"/>
              </a:rPr>
              <a:t>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框架選型與開發流程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框架是基石，流程與治理才決定能否落地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2971800" cy="132588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64792"/>
            <a:ext cx="2057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2128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7F3EA"/>
                </a:solidFill>
                <a:latin typeface="Aptos"/>
              </a:rPr>
              <a:t>模組化、多語言支援，適合快速開發與系統整合。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063240"/>
            <a:ext cx="2971800" cy="132588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10712"/>
            <a:ext cx="2057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AutoGen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22128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Aptos"/>
              </a:rPr>
              <a:t>主打多智能體協作，適合複雜任務與角色分工。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1508760"/>
            <a:ext cx="475488" cy="475488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64207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158191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313A"/>
                </a:solidFill>
                <a:latin typeface="Aptos"/>
              </a:rPr>
              <a:t>定義任務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9202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64727D"/>
                </a:solidFill>
                <a:latin typeface="Aptos"/>
              </a:rPr>
              <a:t>把需求轉為可驗證的工程步驟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1508760"/>
            <a:ext cx="475488" cy="475488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1664207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58191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313A"/>
                </a:solidFill>
                <a:latin typeface="Aptos"/>
              </a:rPr>
              <a:t>選擇框架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19202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64727D"/>
                </a:solidFill>
                <a:latin typeface="Aptos"/>
              </a:rPr>
              <a:t>把需求轉為可驗證的工程步驟</a:t>
            </a:r>
          </a:p>
        </p:txBody>
      </p:sp>
      <p:sp>
        <p:nvSpPr>
          <p:cNvPr id="19" name="Oval 18"/>
          <p:cNvSpPr/>
          <p:nvPr/>
        </p:nvSpPr>
        <p:spPr>
          <a:xfrm>
            <a:off x="8823960" y="1508760"/>
            <a:ext cx="475488" cy="475488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664207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158191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313A"/>
                </a:solidFill>
                <a:latin typeface="Aptos"/>
              </a:rPr>
              <a:t>設計架構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19202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64727D"/>
                </a:solidFill>
                <a:latin typeface="Aptos"/>
              </a:rPr>
              <a:t>把需求轉為可驗證的工程步驟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3337560"/>
            <a:ext cx="475488" cy="475488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493008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341071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313A"/>
                </a:solidFill>
                <a:latin typeface="Aptos"/>
              </a:rPr>
              <a:t>整合工具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3749039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64727D"/>
                </a:solidFill>
                <a:latin typeface="Aptos"/>
              </a:rPr>
              <a:t>把需求轉為可驗證的工程步驟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337560"/>
            <a:ext cx="475488" cy="475488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493008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341071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313A"/>
                </a:solidFill>
                <a:latin typeface="Aptos"/>
              </a:rPr>
              <a:t>訓練評估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749039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64727D"/>
                </a:solidFill>
                <a:latin typeface="Aptos"/>
              </a:rPr>
              <a:t>把需求轉為可驗證的工程步驟</a:t>
            </a:r>
          </a:p>
        </p:txBody>
      </p:sp>
      <p:sp>
        <p:nvSpPr>
          <p:cNvPr id="31" name="Oval 30"/>
          <p:cNvSpPr/>
          <p:nvPr/>
        </p:nvSpPr>
        <p:spPr>
          <a:xfrm>
            <a:off x="8823960" y="3337560"/>
            <a:ext cx="475488" cy="475488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8552" y="3493008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428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328" y="341071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313A"/>
                </a:solidFill>
                <a:latin typeface="Aptos"/>
              </a:rPr>
              <a:t>部署監控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2328" y="3749039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 b="0">
                <a:solidFill>
                  <a:srgbClr val="64727D"/>
                </a:solidFill>
                <a:latin typeface="Aptos"/>
              </a:rPr>
              <a:t>把需求轉為可驗證的工程步驟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導入挑戰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真正困難的部分通常不在模型展示，而在長期營運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856231"/>
            <a:ext cx="502920" cy="50292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975104"/>
            <a:ext cx="10972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19656"/>
            <a:ext cx="192024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80" b="1">
                <a:solidFill>
                  <a:srgbClr val="25313A"/>
                </a:solidFill>
                <a:latin typeface="Aptos"/>
              </a:rPr>
              <a:t>信任與安全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58568"/>
            <a:ext cx="3246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64727D"/>
                </a:solidFill>
                <a:latin typeface="Aptos"/>
              </a:rPr>
              <a:t>資料外洩、權限控管、輸出可信度與責任歸屬。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1856231"/>
            <a:ext cx="502920" cy="50292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1975104"/>
            <a:ext cx="10972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819656"/>
            <a:ext cx="192024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80" b="1">
                <a:solidFill>
                  <a:srgbClr val="25313A"/>
                </a:solidFill>
                <a:latin typeface="Aptos"/>
              </a:rPr>
              <a:t>資料與算力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58568"/>
            <a:ext cx="3246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64727D"/>
                </a:solidFill>
                <a:latin typeface="Aptos"/>
              </a:rPr>
              <a:t>優質訓練資料稀缺，運算資源與成本壓力升高。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66160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3913632"/>
            <a:ext cx="502920" cy="50292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4032504"/>
            <a:ext cx="10972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77056"/>
            <a:ext cx="192024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80" b="1">
                <a:solidFill>
                  <a:srgbClr val="25313A"/>
                </a:solidFill>
                <a:latin typeface="Aptos"/>
              </a:rPr>
              <a:t>環境成本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15968"/>
            <a:ext cx="3246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64727D"/>
                </a:solidFill>
                <a:latin typeface="Aptos"/>
              </a:rPr>
              <a:t>大型 AI 系統會消耗能源與冷卻水資源。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566160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7688" y="3913632"/>
            <a:ext cx="502920" cy="502920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032504"/>
            <a:ext cx="10972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877056"/>
            <a:ext cx="192024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80" b="1">
                <a:solidFill>
                  <a:srgbClr val="25313A"/>
                </a:solidFill>
                <a:latin typeface="Aptos"/>
              </a:rPr>
              <a:t>維運成本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15968"/>
            <a:ext cx="3246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64727D"/>
                </a:solidFill>
                <a:latin typeface="Aptos"/>
              </a:rPr>
              <a:t>開發與持續監控成本高，未必比人工便宜。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5504688"/>
            <a:ext cx="7360920" cy="438912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5650992"/>
            <a:ext cx="63550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短期最適合導入：大量、重複、規則可拆解，且風險可控的任務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學習指南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B7C83"/>
                </a:solidFill>
                <a:latin typeface="Aptos"/>
              </a:rPr>
              <a:t>從看懂 loop，到能設計可控的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64727D"/>
                </a:solidFill>
                <a:latin typeface="Aptos"/>
              </a:rPr>
              <a:t>AI AGENT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90472"/>
            <a:ext cx="347472" cy="34747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600200"/>
            <a:ext cx="914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63040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25313A"/>
                </a:solidFill>
                <a:latin typeface="Aptos"/>
              </a:rPr>
              <a:t>概念層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444752"/>
            <a:ext cx="71323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分清 Agent、LLM、工具、記憶與規劃。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331720"/>
            <a:ext cx="347472" cy="34747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441448"/>
            <a:ext cx="914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304288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25313A"/>
                </a:solidFill>
                <a:latin typeface="Aptos"/>
              </a:rPr>
              <a:t>架構層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286000"/>
            <a:ext cx="71323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畫出感知、規劃、行動、記憶的資料流。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72968"/>
            <a:ext cx="347472" cy="34747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3282696"/>
            <a:ext cx="914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45536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25313A"/>
                </a:solidFill>
                <a:latin typeface="Aptos"/>
              </a:rPr>
              <a:t>實作層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127248"/>
            <a:ext cx="71323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從文章摘要、資料查詢等小任務建立最小可行 Agent。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014216"/>
            <a:ext cx="347472" cy="347472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4123944"/>
            <a:ext cx="914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986784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25313A"/>
                </a:solidFill>
                <a:latin typeface="Aptos"/>
              </a:rPr>
              <a:t>評估層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3968496"/>
            <a:ext cx="71323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檢查成功率、錯誤恢復、資料安全與執行成本。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855464"/>
            <a:ext cx="347472" cy="34747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4965192"/>
            <a:ext cx="914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828032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25313A"/>
                </a:solidFill>
                <a:latin typeface="Aptos"/>
              </a:rPr>
              <a:t>治理層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809744"/>
            <a:ext cx="71323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30" b="0">
                <a:solidFill>
                  <a:srgbClr val="64727D"/>
                </a:solidFill>
                <a:latin typeface="Aptos"/>
              </a:rPr>
              <a:t>加入權限、審計、人工覆核與監控告警。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508760"/>
            <a:ext cx="2148840" cy="3840480"/>
          </a:xfrm>
          <a:prstGeom prst="roundRect">
            <a:avLst/>
          </a:prstGeom>
          <a:solidFill>
            <a:srgbClr val="E8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828800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B7C83"/>
                </a:solidFill>
                <a:latin typeface="Aptos"/>
              </a:rPr>
              <a:t>練習題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331720"/>
            <a:ext cx="155448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5313A"/>
                </a:solidFill>
                <a:latin typeface="Aptos"/>
              </a:rPr>
              <a:t>1. 重畫餐廳服務生流程
2. 設計客服 Agent 工具清單
3. 比較 LangChain / AutoGen
4. 建立導入風險檢核表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39B7A5"/>
                </a:solidFill>
                <a:latin typeface="Aptos"/>
              </a:rPr>
              <a:t>Agent 的價值在工作流，而不只是模型能力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114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F7F3EA"/>
                </a:solidFill>
                <a:latin typeface="Aptos"/>
              </a:rPr>
              <a:t>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3093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 Display"/>
              </a:rPr>
              <a:t>AI Agent 是「能做事的 AI 系統」</a:t>
            </a:r>
          </a:p>
        </p:txBody>
      </p:sp>
      <p:sp>
        <p:nvSpPr>
          <p:cNvPr id="6" name="Oval 5"/>
          <p:cNvSpPr/>
          <p:nvPr/>
        </p:nvSpPr>
        <p:spPr>
          <a:xfrm>
            <a:off x="932688" y="2615184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560320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不是單純問答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560320"/>
            <a:ext cx="402335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F7F3EA"/>
                </a:solidFill>
                <a:latin typeface="Aptos"/>
              </a:rPr>
              <a:t>它需要感知、規劃、工具行動與記憶。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182112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127248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不是自動化萬靈丹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3127248"/>
            <a:ext cx="402335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F7F3EA"/>
                </a:solidFill>
                <a:latin typeface="Aptos"/>
              </a:rPr>
              <a:t>成本、資料、安全與監控會決定是否值得導入。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749039"/>
            <a:ext cx="100584" cy="10058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694176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競爭力在設計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694176"/>
            <a:ext cx="402335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F7F3EA"/>
                </a:solidFill>
                <a:latin typeface="Aptos"/>
              </a:rPr>
              <a:t>人與 Agent 的協作流程，將成為下一階段差異化能力。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1828800"/>
            <a:ext cx="1051560" cy="105156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240280"/>
            <a:ext cx="4114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感知</a:t>
            </a:r>
          </a:p>
        </p:txBody>
      </p:sp>
      <p:sp>
        <p:nvSpPr>
          <p:cNvPr id="17" name="Oval 16"/>
          <p:cNvSpPr/>
          <p:nvPr/>
        </p:nvSpPr>
        <p:spPr>
          <a:xfrm>
            <a:off x="9372600" y="1828800"/>
            <a:ext cx="1051560" cy="105156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40280"/>
            <a:ext cx="4114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規劃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3520440"/>
            <a:ext cx="1051560" cy="105156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931920"/>
            <a:ext cx="4114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行動</a:t>
            </a:r>
          </a:p>
        </p:txBody>
      </p:sp>
      <p:sp>
        <p:nvSpPr>
          <p:cNvPr id="21" name="Oval 20"/>
          <p:cNvSpPr/>
          <p:nvPr/>
        </p:nvSpPr>
        <p:spPr>
          <a:xfrm>
            <a:off x="9372600" y="3520440"/>
            <a:ext cx="1051560" cy="1051560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931920"/>
            <a:ext cx="4114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記憶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73568" y="2359152"/>
            <a:ext cx="1399032" cy="0"/>
          </a:xfrm>
          <a:prstGeom prst="line">
            <a:avLst/>
          </a:prstGeom>
          <a:ln w="15240">
            <a:solidFill>
              <a:srgbClr val="F7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93808" y="2880360"/>
            <a:ext cx="0" cy="667512"/>
          </a:xfrm>
          <a:prstGeom prst="line">
            <a:avLst/>
          </a:prstGeom>
          <a:ln w="15240">
            <a:solidFill>
              <a:srgbClr val="F7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973568" y="4041648"/>
            <a:ext cx="1399032" cy="0"/>
          </a:xfrm>
          <a:prstGeom prst="line">
            <a:avLst/>
          </a:prstGeom>
          <a:ln w="15240">
            <a:solidFill>
              <a:srgbClr val="F7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973568" y="2880360"/>
            <a:ext cx="0" cy="667512"/>
          </a:xfrm>
          <a:prstGeom prst="line">
            <a:avLst/>
          </a:prstGeom>
          <a:ln w="15240">
            <a:solidFill>
              <a:srgbClr val="F7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473952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整理自 vocus 文章：AI Agent 入門：解構核心原理與框架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入門：從核心原理、開發框架到負責任導入</dc:title>
  <dc:subject>vocus 文章重點整理、簡報大綱與學習指南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